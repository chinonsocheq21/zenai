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seconds. 'At the midterm we showed the design. Today ZenAI runs: a student app, a backend you can watch, and numbers on how well it holds the protocol.'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THE FILM, 68 seconds. Every phone shot in it is the real app recorded running, with live replies. The crisis message in it is synthetic and labelled.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midterm promised the Fidelity Monitor for Oct 16 to 27. It shipped, and it is measured on the results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 in one breath. Stress the two exits: a crisis stops the turn before any reply is written, and a drifting draft is rewritten or replaced.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Check-in comes first so ZenAI knows how heavy today is before it answers. Resources are only the verified Morgan offices with real numbers, never invented.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what the live demo will show. Point at: privacy found nothing to remove, crisis risk 0.10 against a threshold of 0.35, mood, and the router choosing Academic Stress with its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layers: a trained drift detector, a second-opinion model on anything it flags, and a short list of phrases that are never sent. If a draft still drifts after two rewrites, a safe fallback goes out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message on screen is synthetic. The threshold is set low on purpose: a false alarm costs a moment, a miss costs far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footnote out loud. The 7.6% to 0% comes from an independent AI rater on a blind sheet; the human marks will confirm or correct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class: double-click 'Start ZenAI Class Demo' on the Desktop. It opens the projector page with the QR and today's class code. Keep the workflow viewer open in a second tab.</a:t>
            </a:r>
          </a:p>
          <a:p/>
          <a:p>
            <a:r>
              <a:t>1. Classmates scan and send a message. Switch to the workflow viewer and follow one through the stages.</a:t>
            </a:r>
          </a:p>
          <a:p>
            <a:r>
              <a:t>2. Send the synthetic crisis line yourself and show the turn stop at stage 2.</a:t>
            </a:r>
          </a:p>
          <a:p>
            <a:r>
              <a:t>3. Turn on voice and let ZenAI answer out loud.</a:t>
            </a:r>
          </a:p>
          <a:p/>
          <a:p>
            <a:r>
              <a:t>Backup if the network fails: play the film again and use the screenshots on slides 7 to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03320" y="2487168"/>
            <a:ext cx="1051560" cy="1051560"/>
          </a:xfrm>
          <a:prstGeom prst="roundRect">
            <a:avLst/>
          </a:prstGeom>
          <a:solidFill>
            <a:srgbClr val="1B3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000" b="0" i="0">
                <a:solidFill>
                  <a:srgbClr val="FFFFFF"/>
                </a:solidFill>
                <a:latin typeface="Georgia"/>
              </a:rPr>
              <a:t>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83480" y="2267712"/>
            <a:ext cx="502920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600" b="0" i="0">
                <a:solidFill>
                  <a:srgbClr val="1C2620"/>
                </a:solidFill>
                <a:latin typeface="Georgia"/>
              </a:rPr>
              <a:t>ZenAI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77639"/>
            <a:ext cx="94457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400" b="0" i="0">
                <a:solidFill>
                  <a:srgbClr val="1B3D6F"/>
                </a:solidFill>
                <a:latin typeface="Helvetica Neue"/>
              </a:rPr>
              <a:t>A working app that stays inside the counseling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548640"/>
            <a:ext cx="1024102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0">
                <a:solidFill>
                  <a:srgbClr val="6B7A72"/>
                </a:solidFill>
                <a:latin typeface="Helvetica Neue"/>
              </a:rPr>
              <a:t>COSC 490 · PROJECT 5 · GROUP 3 · PROGRESS REPORT 3 · NOVEMBER 5,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35" y="5760720"/>
            <a:ext cx="10241023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1B3D6F"/>
                </a:solidFill>
                <a:latin typeface="Helvetica Neue"/>
              </a:rPr>
              <a:t>Abraham Irabor  ·  Fnu Soh Tah Fon  ·  Joseph Williams  ·  Chinonso Egeolu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C2620"/>
                </a:solidFill>
                <a:latin typeface="Helvetica Neue"/>
              </a:rPr>
              <a:t>ZenAI in a minute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07592"/>
            <a:ext cx="822960" cy="45720"/>
          </a:xfrm>
          <a:prstGeom prst="rect">
            <a:avLst/>
          </a:prstGeom>
          <a:solidFill>
            <a:srgbClr val="1B3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26767" y="1508760"/>
            <a:ext cx="813816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zenai-launch-film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72487" y="1554480"/>
            <a:ext cx="804672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208776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 i="0">
                <a:solidFill>
                  <a:srgbClr val="6B7A72"/>
                </a:solidFill>
                <a:latin typeface="Helvetica Neue"/>
              </a:rPr>
              <a:t>▶  Plays in the .pptx  ·  backup: zenai.unv.run/#film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B7A72"/>
                </a:solidFill>
                <a:latin typeface="Helvetica Neue"/>
              </a:rPr>
              <a:t>ZenAI  ·  COSC 490  ·  Group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7095" y="6419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B7A72"/>
                </a:solidFill>
                <a:latin typeface="Helvetica Neue"/>
              </a:rPr>
              <a:t>2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C2620"/>
                </a:solidFill>
                <a:latin typeface="Helvetica Neue"/>
              </a:rPr>
              <a:t>Since the midterm: from design to a running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07592"/>
            <a:ext cx="822960" cy="45720"/>
          </a:xfrm>
          <a:prstGeom prst="rect">
            <a:avLst/>
          </a:prstGeom>
          <a:solidFill>
            <a:srgbClr val="1B3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789920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725"/>
              </a:spcAft>
            </a:pPr>
            <a:r>
              <a:rPr sz="1265">
                <a:solidFill>
                  <a:srgbClr val="1B3D6F"/>
                </a:solidFill>
                <a:latin typeface="Helvetica Neue"/>
              </a:rPr>
              <a:t>●  </a:t>
            </a:r>
            <a:r>
              <a:rPr sz="2300" b="0" i="0">
                <a:solidFill>
                  <a:srgbClr val="1C2620"/>
                </a:solidFill>
                <a:latin typeface="Helvetica Neue"/>
              </a:rPr>
              <a:t>The </a:t>
            </a:r>
            <a:r>
              <a:rPr sz="2300" b="1" i="0">
                <a:solidFill>
                  <a:srgbClr val="1C2620"/>
                </a:solidFill>
                <a:latin typeface="Helvetica Neue"/>
              </a:rPr>
              <a:t>Fidelity Monitor is built</a:t>
            </a:r>
            <a:r>
              <a:rPr sz="2300" b="0" i="0">
                <a:solidFill>
                  <a:srgbClr val="1C2620"/>
                </a:solidFill>
                <a:latin typeface="Helvetica Neue"/>
              </a:rPr>
              <a:t>: every reply is checked before a student sees it</a:t>
            </a:r>
          </a:p>
          <a:p>
            <a:pPr>
              <a:lnSpc>
                <a:spcPct val="110000"/>
              </a:lnSpc>
              <a:spcAft>
                <a:spcPts val="1725"/>
              </a:spcAft>
            </a:pPr>
            <a:r>
              <a:rPr sz="1265">
                <a:solidFill>
                  <a:srgbClr val="1B3D6F"/>
                </a:solidFill>
                <a:latin typeface="Helvetica Neue"/>
              </a:rPr>
              <a:t>●  </a:t>
            </a:r>
            <a:r>
              <a:rPr sz="2300" b="0" i="0">
                <a:solidFill>
                  <a:srgbClr val="1C2620"/>
                </a:solidFill>
                <a:latin typeface="Helvetica Neue"/>
              </a:rPr>
              <a:t>A </a:t>
            </a:r>
            <a:r>
              <a:rPr sz="2300" b="1" i="0">
                <a:solidFill>
                  <a:srgbClr val="1C2620"/>
                </a:solidFill>
                <a:latin typeface="Helvetica Neue"/>
              </a:rPr>
              <a:t>student app</a:t>
            </a:r>
            <a:r>
              <a:rPr sz="2300" b="0" i="0">
                <a:solidFill>
                  <a:srgbClr val="1C2620"/>
                </a:solidFill>
                <a:latin typeface="Helvetica Neue"/>
              </a:rPr>
              <a:t>: check in, talk or speak, verified Morgan offices, a gentle close</a:t>
            </a:r>
          </a:p>
          <a:p>
            <a:pPr>
              <a:lnSpc>
                <a:spcPct val="110000"/>
              </a:lnSpc>
              <a:spcAft>
                <a:spcPts val="1725"/>
              </a:spcAft>
            </a:pPr>
            <a:r>
              <a:rPr sz="1265">
                <a:solidFill>
                  <a:srgbClr val="1B3D6F"/>
                </a:solidFill>
                <a:latin typeface="Helvetica Neue"/>
              </a:rPr>
              <a:t>●  </a:t>
            </a:r>
            <a:r>
              <a:rPr sz="2300" b="1" i="0">
                <a:solidFill>
                  <a:srgbClr val="1C2620"/>
                </a:solidFill>
                <a:latin typeface="Helvetica Neue"/>
              </a:rPr>
              <a:t>Four specialists</a:t>
            </a:r>
            <a:r>
              <a:rPr sz="2300" b="0" i="0">
                <a:solidFill>
                  <a:srgbClr val="1C2620"/>
                </a:solidFill>
                <a:latin typeface="Helvetica Neue"/>
              </a:rPr>
              <a:t>, chosen per message by a model router</a:t>
            </a:r>
          </a:p>
          <a:p>
            <a:pPr>
              <a:lnSpc>
                <a:spcPct val="110000"/>
              </a:lnSpc>
              <a:spcAft>
                <a:spcPts val="1725"/>
              </a:spcAft>
            </a:pPr>
            <a:r>
              <a:rPr sz="1265">
                <a:solidFill>
                  <a:srgbClr val="1B3D6F"/>
                </a:solidFill>
                <a:latin typeface="Helvetica Neue"/>
              </a:rPr>
              <a:t>●  </a:t>
            </a:r>
            <a:r>
              <a:rPr sz="2300" b="0" i="0">
                <a:solidFill>
                  <a:srgbClr val="1C2620"/>
                </a:solidFill>
                <a:latin typeface="Helvetica Neue"/>
              </a:rPr>
              <a:t>A </a:t>
            </a:r>
            <a:r>
              <a:rPr sz="2300" b="1" i="0">
                <a:solidFill>
                  <a:srgbClr val="1C2620"/>
                </a:solidFill>
                <a:latin typeface="Helvetica Neue"/>
              </a:rPr>
              <a:t>crisis check that reads the whole conversation</a:t>
            </a:r>
            <a:r>
              <a:rPr sz="2300" b="0" i="0">
                <a:solidFill>
                  <a:srgbClr val="1C2620"/>
                </a:solidFill>
                <a:latin typeface="Helvetica Neue"/>
              </a:rPr>
              <a:t>, not one message</a:t>
            </a:r>
          </a:p>
          <a:p>
            <a:pPr>
              <a:lnSpc>
                <a:spcPct val="110000"/>
              </a:lnSpc>
              <a:spcAft>
                <a:spcPts val="1725"/>
              </a:spcAft>
            </a:pPr>
            <a:r>
              <a:rPr sz="1265">
                <a:solidFill>
                  <a:srgbClr val="1B3D6F"/>
                </a:solidFill>
                <a:latin typeface="Helvetica Neue"/>
              </a:rPr>
              <a:t>●  </a:t>
            </a:r>
            <a:r>
              <a:rPr sz="2300" b="0" i="0">
                <a:solidFill>
                  <a:srgbClr val="1C2620"/>
                </a:solidFill>
                <a:latin typeface="Helvetica Neue"/>
              </a:rPr>
              <a:t>Replies went from </a:t>
            </a:r>
            <a:r>
              <a:rPr sz="2300" b="1" i="0">
                <a:solidFill>
                  <a:srgbClr val="1C2620"/>
                </a:solidFill>
                <a:latin typeface="Helvetica Neue"/>
              </a:rPr>
              <a:t>8.4 s to 2.4 s</a:t>
            </a:r>
          </a:p>
          <a:p>
            <a:pPr>
              <a:lnSpc>
                <a:spcPct val="110000"/>
              </a:lnSpc>
              <a:spcAft>
                <a:spcPts val="1725"/>
              </a:spcAft>
            </a:pPr>
            <a:r>
              <a:rPr sz="1265">
                <a:solidFill>
                  <a:srgbClr val="1B3D6F"/>
                </a:solidFill>
                <a:latin typeface="Helvetica Neue"/>
              </a:rPr>
              <a:t>●  </a:t>
            </a:r>
            <a:r>
              <a:rPr sz="2300" b="0" i="0">
                <a:solidFill>
                  <a:srgbClr val="1C2620"/>
                </a:solidFill>
                <a:latin typeface="Helvetica Neue"/>
              </a:rPr>
              <a:t>A </a:t>
            </a:r>
            <a:r>
              <a:rPr sz="2300" b="1" i="0">
                <a:solidFill>
                  <a:srgbClr val="1C2620"/>
                </a:solidFill>
                <a:latin typeface="Helvetica Neue"/>
              </a:rPr>
              <a:t>backend viewer</a:t>
            </a:r>
            <a:r>
              <a:rPr sz="2300" b="0" i="0">
                <a:solidFill>
                  <a:srgbClr val="1C2620"/>
                </a:solidFill>
                <a:latin typeface="Helvetica Neue"/>
              </a:rPr>
              <a:t> that shows each message moving through the pipeline,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B7A72"/>
                </a:solidFill>
                <a:latin typeface="Helvetica Neue"/>
              </a:rPr>
              <a:t>ZenAI  ·  COSC 490  ·  Group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7095" y="6419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B7A72"/>
                </a:solidFill>
                <a:latin typeface="Helvetica Neue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C2620"/>
                </a:solidFill>
                <a:latin typeface="Helvetica Neue"/>
              </a:rPr>
              <a:t>One message, eight stages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07592"/>
            <a:ext cx="822960" cy="45720"/>
          </a:xfrm>
          <a:prstGeom prst="rect">
            <a:avLst/>
          </a:prstGeom>
          <a:solidFill>
            <a:srgbClr val="1B3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9224" y="2365267"/>
            <a:ext cx="10890504" cy="2758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3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01843"/>
            <a:ext cx="10817352" cy="2685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989320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 i="1">
                <a:solidFill>
                  <a:srgbClr val="6B7A72"/>
                </a:solidFill>
                <a:latin typeface="Helvetica Neue"/>
              </a:rPr>
              <a:t>The two dark stages are the safety rails. Crisis runs before any language model sees the message.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B7A72"/>
                </a:solidFill>
                <a:latin typeface="Helvetica Neue"/>
              </a:rPr>
              <a:t>ZenAI  ·  COSC 490  ·  Group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7095" y="6419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B7A72"/>
                </a:solidFill>
                <a:latin typeface="Helvetica Neue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C2620"/>
                </a:solidFill>
                <a:latin typeface="Helvetica Neue"/>
              </a:rPr>
              <a:t>The student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07592"/>
            <a:ext cx="822960" cy="45720"/>
          </a:xfrm>
          <a:prstGeom prst="rect">
            <a:avLst/>
          </a:prstGeom>
          <a:solidFill>
            <a:srgbClr val="1B3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87291" y="1536192"/>
            <a:ext cx="6214369" cy="44165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3-app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867" y="1572768"/>
            <a:ext cx="6141217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989320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 i="1">
                <a:solidFill>
                  <a:srgbClr val="6B7A72"/>
                </a:solidFill>
                <a:latin typeface="Helvetica Neue"/>
              </a:rPr>
              <a:t>Real screens from the running app, recorded Oct 29. Live replies, checked by the Fidelity Monitor.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B7A72"/>
                </a:solidFill>
                <a:latin typeface="Helvetica Neue"/>
              </a:rPr>
              <a:t>ZenAI  ·  COSC 490  ·  Group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7095" y="6419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B7A72"/>
                </a:solidFill>
                <a:latin typeface="Helvetica Neue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C2620"/>
                </a:solidFill>
                <a:latin typeface="Helvetica Neue"/>
              </a:rPr>
              <a:t>Say it out loud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07592"/>
            <a:ext cx="822960" cy="45720"/>
          </a:xfrm>
          <a:prstGeom prst="rect">
            <a:avLst/>
          </a:prstGeom>
          <a:solidFill>
            <a:srgbClr val="1B3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51206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387"/>
              </a:spcAft>
            </a:pPr>
            <a:r>
              <a:rPr sz="1017">
                <a:solidFill>
                  <a:srgbClr val="1B3D6F"/>
                </a:solidFill>
                <a:latin typeface="Helvetica Neue"/>
              </a:rPr>
              <a:t>●  </a:t>
            </a:r>
            <a:r>
              <a:rPr sz="1850" b="0" i="0">
                <a:solidFill>
                  <a:srgbClr val="1C2620"/>
                </a:solidFill>
                <a:latin typeface="Helvetica Neue"/>
              </a:rPr>
              <a:t>Tap the mic and the </a:t>
            </a:r>
            <a:r>
              <a:rPr sz="1850" b="1" i="0">
                <a:solidFill>
                  <a:srgbClr val="1C2620"/>
                </a:solidFill>
                <a:latin typeface="Helvetica Neue"/>
              </a:rPr>
              <a:t>orb moves while it listens</a:t>
            </a:r>
          </a:p>
          <a:p>
            <a:pPr>
              <a:lnSpc>
                <a:spcPct val="110000"/>
              </a:lnSpc>
              <a:spcAft>
                <a:spcPts val="1387"/>
              </a:spcAft>
            </a:pPr>
            <a:r>
              <a:rPr sz="1017">
                <a:solidFill>
                  <a:srgbClr val="1B3D6F"/>
                </a:solidFill>
                <a:latin typeface="Helvetica Neue"/>
              </a:rPr>
              <a:t>●  </a:t>
            </a:r>
            <a:r>
              <a:rPr sz="1850" b="0" i="0">
                <a:solidFill>
                  <a:srgbClr val="1C2620"/>
                </a:solidFill>
                <a:latin typeface="Helvetica Neue"/>
              </a:rPr>
              <a:t>ZenAI answers in a </a:t>
            </a:r>
            <a:r>
              <a:rPr sz="1850" b="1" i="0">
                <a:solidFill>
                  <a:srgbClr val="1C2620"/>
                </a:solidFill>
                <a:latin typeface="Helvetica Neue"/>
              </a:rPr>
              <a:t>calm neural voice</a:t>
            </a:r>
            <a:r>
              <a:rPr sz="1850" b="0" i="0">
                <a:solidFill>
                  <a:srgbClr val="1C2620"/>
                </a:solidFill>
                <a:latin typeface="Helvetica Neue"/>
              </a:rPr>
              <a:t>, not a robotic one</a:t>
            </a:r>
          </a:p>
          <a:p>
            <a:pPr>
              <a:lnSpc>
                <a:spcPct val="110000"/>
              </a:lnSpc>
              <a:spcAft>
                <a:spcPts val="1387"/>
              </a:spcAft>
            </a:pPr>
            <a:r>
              <a:rPr sz="1017">
                <a:solidFill>
                  <a:srgbClr val="1B3D6F"/>
                </a:solidFill>
                <a:latin typeface="Helvetica Neue"/>
              </a:rPr>
              <a:t>●  </a:t>
            </a:r>
            <a:r>
              <a:rPr sz="1850" b="0" i="0">
                <a:solidFill>
                  <a:srgbClr val="1C2620"/>
                </a:solidFill>
                <a:latin typeface="Helvetica Neue"/>
              </a:rPr>
              <a:t>Speech to text runs </a:t>
            </a:r>
            <a:r>
              <a:rPr sz="1850" b="1" i="0">
                <a:solidFill>
                  <a:srgbClr val="1C2620"/>
                </a:solidFill>
                <a:latin typeface="Helvetica Neue"/>
              </a:rPr>
              <a:t>in the phone's browser</a:t>
            </a:r>
            <a:r>
              <a:rPr sz="1850" b="0" i="0">
                <a:solidFill>
                  <a:srgbClr val="1C2620"/>
                </a:solidFill>
                <a:latin typeface="Helvetica Neue"/>
              </a:rPr>
              <a:t>; audio is never stored</a:t>
            </a:r>
          </a:p>
          <a:p>
            <a:pPr>
              <a:lnSpc>
                <a:spcPct val="110000"/>
              </a:lnSpc>
              <a:spcAft>
                <a:spcPts val="1387"/>
              </a:spcAft>
            </a:pPr>
            <a:r>
              <a:rPr sz="1017">
                <a:solidFill>
                  <a:srgbClr val="1B3D6F"/>
                </a:solidFill>
                <a:latin typeface="Helvetica Neue"/>
              </a:rPr>
              <a:t>●  </a:t>
            </a:r>
            <a:r>
              <a:rPr sz="1850" b="0" i="0">
                <a:solidFill>
                  <a:srgbClr val="1C2620"/>
                </a:solidFill>
                <a:latin typeface="Helvetica Neue"/>
              </a:rPr>
              <a:t>Every spoken reply passes </a:t>
            </a:r>
            <a:r>
              <a:rPr sz="1850" b="1" i="0">
                <a:solidFill>
                  <a:srgbClr val="1C2620"/>
                </a:solidFill>
                <a:latin typeface="Helvetica Neue"/>
              </a:rPr>
              <a:t>the same Fidelity Monitor</a:t>
            </a:r>
            <a:r>
              <a:rPr sz="1850" b="0" i="0">
                <a:solidFill>
                  <a:srgbClr val="1C2620"/>
                </a:solidFill>
                <a:latin typeface="Helvetica Neue"/>
              </a:rPr>
              <a:t> as typed 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619982" y="1609344"/>
            <a:ext cx="4362235" cy="4553712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3-v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558" y="1645920"/>
            <a:ext cx="4289083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B7A72"/>
                </a:solidFill>
                <a:latin typeface="Helvetica Neue"/>
              </a:rPr>
              <a:t>ZenAI  ·  COSC 490  ·  Group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7095" y="6419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B7A72"/>
                </a:solidFill>
                <a:latin typeface="Helvetica Neue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C2620"/>
                </a:solidFill>
                <a:latin typeface="Helvetica Neue"/>
              </a:rPr>
              <a:t>Behind the screen: every stage, live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07592"/>
            <a:ext cx="822960" cy="45720"/>
          </a:xfrm>
          <a:prstGeom prst="rect">
            <a:avLst/>
          </a:prstGeom>
          <a:solidFill>
            <a:srgbClr val="1B3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400" y="1536192"/>
            <a:ext cx="7312151" cy="44165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3-wf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976" y="1572768"/>
            <a:ext cx="7238999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989320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 i="1">
                <a:solidFill>
                  <a:srgbClr val="6B7A72"/>
                </a:solidFill>
                <a:latin typeface="Helvetica Neue"/>
              </a:rPr>
              <a:t>The workflow viewer. A message sent from the app appears here with what each stage decided and how long it took.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B7A72"/>
                </a:solidFill>
                <a:latin typeface="Helvetica Neue"/>
              </a:rPr>
              <a:t>ZenAI  ·  COSC 490  ·  Group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7095" y="6419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B7A72"/>
                </a:solidFill>
                <a:latin typeface="Helvetica Neue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C2620"/>
                </a:solidFill>
                <a:latin typeface="Helvetica Neue"/>
              </a:rPr>
              <a:t>The Fidelity Monitor at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07592"/>
            <a:ext cx="822960" cy="45720"/>
          </a:xfrm>
          <a:prstGeom prst="rect">
            <a:avLst/>
          </a:prstGeom>
          <a:solidFill>
            <a:srgbClr val="1B3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400" y="1536192"/>
            <a:ext cx="7312151" cy="44165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3-wf-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976" y="1572768"/>
            <a:ext cx="7238999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989320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 i="1">
                <a:solidFill>
                  <a:srgbClr val="6B7A72"/>
                </a:solidFill>
                <a:latin typeface="Helvetica Neue"/>
              </a:rPr>
              <a:t>The draft is checked for advice, reassurance and diagnosis, then sent. A flagged draft is rewritten up to twice.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B7A72"/>
                </a:solidFill>
                <a:latin typeface="Helvetica Neue"/>
              </a:rPr>
              <a:t>ZenAI  ·  COSC 490  ·  Group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7095" y="6419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B7A72"/>
                </a:solidFill>
                <a:latin typeface="Helvetica Neue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C2620"/>
                </a:solidFill>
                <a:latin typeface="Helvetica Neue"/>
              </a:rPr>
              <a:t>When it matters most, it stops talking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07592"/>
            <a:ext cx="822960" cy="45720"/>
          </a:xfrm>
          <a:prstGeom prst="rect">
            <a:avLst/>
          </a:prstGeom>
          <a:solidFill>
            <a:srgbClr val="1B3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51206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387"/>
              </a:spcAft>
            </a:pPr>
            <a:r>
              <a:rPr sz="1017">
                <a:solidFill>
                  <a:srgbClr val="1B3D6F"/>
                </a:solidFill>
                <a:latin typeface="Helvetica Neue"/>
              </a:rPr>
              <a:t>●  </a:t>
            </a:r>
            <a:r>
              <a:rPr sz="1850" b="0" i="0">
                <a:solidFill>
                  <a:srgbClr val="1C2620"/>
                </a:solidFill>
                <a:latin typeface="Helvetica Neue"/>
              </a:rPr>
              <a:t>Patterns, then </a:t>
            </a:r>
            <a:r>
              <a:rPr sz="1850" b="1" i="0">
                <a:solidFill>
                  <a:srgbClr val="1C2620"/>
                </a:solidFill>
                <a:latin typeface="Helvetica Neue"/>
              </a:rPr>
              <a:t>the conversation so far</a:t>
            </a:r>
            <a:r>
              <a:rPr sz="1850" b="0" i="0">
                <a:solidFill>
                  <a:srgbClr val="1C2620"/>
                </a:solidFill>
                <a:latin typeface="Helvetica Neue"/>
              </a:rPr>
              <a:t>, then a model screen</a:t>
            </a:r>
          </a:p>
          <a:p>
            <a:pPr>
              <a:lnSpc>
                <a:spcPct val="110000"/>
              </a:lnSpc>
              <a:spcAft>
                <a:spcPts val="1387"/>
              </a:spcAft>
            </a:pPr>
            <a:r>
              <a:rPr sz="1017">
                <a:solidFill>
                  <a:srgbClr val="1B3D6F"/>
                </a:solidFill>
                <a:latin typeface="Helvetica Neue"/>
              </a:rPr>
              <a:t>●  </a:t>
            </a:r>
            <a:r>
              <a:rPr sz="1850" b="0" i="0">
                <a:solidFill>
                  <a:srgbClr val="1C2620"/>
                </a:solidFill>
                <a:latin typeface="Helvetica Neue"/>
              </a:rPr>
              <a:t>Over the threshold: </a:t>
            </a:r>
            <a:r>
              <a:rPr sz="1850" b="1" i="0">
                <a:solidFill>
                  <a:srgbClr val="1C2620"/>
                </a:solidFill>
                <a:latin typeface="Helvetica Neue"/>
              </a:rPr>
              <a:t>no reply is generated</a:t>
            </a:r>
            <a:r>
              <a:rPr sz="1850" b="0" i="0">
                <a:solidFill>
                  <a:srgbClr val="1C2620"/>
                </a:solidFill>
                <a:latin typeface="Helvetica Neue"/>
              </a:rPr>
              <a:t>, the student gets 988 and the Counseling Center</a:t>
            </a:r>
          </a:p>
          <a:p>
            <a:pPr>
              <a:lnSpc>
                <a:spcPct val="110000"/>
              </a:lnSpc>
              <a:spcAft>
                <a:spcPts val="1387"/>
              </a:spcAft>
            </a:pPr>
            <a:r>
              <a:rPr sz="1017">
                <a:solidFill>
                  <a:srgbClr val="1B3D6F"/>
                </a:solidFill>
                <a:latin typeface="Helvetica Neue"/>
              </a:rPr>
              <a:t>●  </a:t>
            </a:r>
            <a:r>
              <a:rPr sz="1850" b="0" i="0">
                <a:solidFill>
                  <a:srgbClr val="1C2620"/>
                </a:solidFill>
                <a:latin typeface="Helvetica Neue"/>
              </a:rPr>
              <a:t>After a crisis, </a:t>
            </a:r>
            <a:r>
              <a:rPr sz="1850" b="1" i="0">
                <a:solidFill>
                  <a:srgbClr val="1C2620"/>
                </a:solidFill>
                <a:latin typeface="Helvetica Neue"/>
              </a:rPr>
              <a:t>help stays pinned</a:t>
            </a:r>
            <a:r>
              <a:rPr sz="1850" b="0" i="0">
                <a:solidFill>
                  <a:srgbClr val="1C2620"/>
                </a:solidFill>
                <a:latin typeface="Helvetica Neue"/>
              </a:rPr>
              <a:t> at the top of the chat</a:t>
            </a:r>
          </a:p>
          <a:p>
            <a:pPr>
              <a:lnSpc>
                <a:spcPct val="110000"/>
              </a:lnSpc>
              <a:spcAft>
                <a:spcPts val="1387"/>
              </a:spcAft>
            </a:pPr>
            <a:r>
              <a:rPr sz="1017">
                <a:solidFill>
                  <a:srgbClr val="1B3D6F"/>
                </a:solidFill>
                <a:latin typeface="Helvetica Neue"/>
              </a:rPr>
              <a:t>●  </a:t>
            </a:r>
            <a:r>
              <a:rPr sz="1850" b="0" i="0">
                <a:solidFill>
                  <a:srgbClr val="1C2620"/>
                </a:solidFill>
                <a:latin typeface="Helvetica Neue"/>
              </a:rPr>
              <a:t>Held-out test: </a:t>
            </a:r>
            <a:r>
              <a:rPr sz="1850" b="1" i="0">
                <a:solidFill>
                  <a:srgbClr val="1C2620"/>
                </a:solidFill>
                <a:latin typeface="Helvetica Neue"/>
              </a:rPr>
              <a:t>10 of 10</a:t>
            </a:r>
            <a:r>
              <a:rPr sz="1850" b="0" i="0">
                <a:solidFill>
                  <a:srgbClr val="1C2620"/>
                </a:solidFill>
                <a:latin typeface="Helvetica Neue"/>
              </a:rPr>
              <a:t> hidden crises caught, </a:t>
            </a:r>
            <a:r>
              <a:rPr sz="1850" b="1" i="0">
                <a:solidFill>
                  <a:srgbClr val="1C2620"/>
                </a:solidFill>
                <a:latin typeface="Helvetica Neue"/>
              </a:rPr>
              <a:t>0 of 100</a:t>
            </a:r>
            <a:r>
              <a:rPr sz="1850" b="0" i="0">
                <a:solidFill>
                  <a:srgbClr val="1C2620"/>
                </a:solidFill>
                <a:latin typeface="Helvetica Neue"/>
              </a:rPr>
              <a:t> everyday messages flagged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619982" y="1609344"/>
            <a:ext cx="4362235" cy="4553712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3-cri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558" y="1645920"/>
            <a:ext cx="4289083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B7A72"/>
                </a:solidFill>
                <a:latin typeface="Helvetica Neue"/>
              </a:rPr>
              <a:t>ZenAI  ·  COSC 490  ·  Group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7095" y="6419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B7A72"/>
                </a:solidFill>
                <a:latin typeface="Helvetica Neue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C2620"/>
                </a:solidFill>
                <a:latin typeface="Helvetica Neue"/>
              </a:rPr>
              <a:t>Measured, not assumed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07592"/>
            <a:ext cx="822960" cy="45720"/>
          </a:xfrm>
          <a:prstGeom prst="rect">
            <a:avLst/>
          </a:prstGeom>
          <a:solidFill>
            <a:srgbClr val="1B3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35248" y="1536192"/>
            <a:ext cx="8718454" cy="44165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3-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24" y="1572768"/>
            <a:ext cx="8645302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989320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 i="1">
                <a:solidFill>
                  <a:srgbClr val="6B7A72"/>
                </a:solidFill>
                <a:latin typeface="Helvetica Neue"/>
              </a:rPr>
              <a:t>Protocol breaks rated blind by an independent model (E1 v2); human marking of the same 158 replies is in progress.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B7A72"/>
                </a:solidFill>
                <a:latin typeface="Helvetica Neue"/>
              </a:rPr>
              <a:t>ZenAI  ·  COSC 490  ·  Group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7095" y="6419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B7A72"/>
                </a:solidFill>
                <a:latin typeface="Helvetica Neue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51560"/>
            <a:ext cx="10817352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800" b="1" i="0">
                <a:solidFill>
                  <a:srgbClr val="1B3D6F"/>
                </a:solidFill>
                <a:latin typeface="Helvetica Neue"/>
              </a:rPr>
              <a:t>38 /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11880"/>
            <a:ext cx="94457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1C2620"/>
                </a:solidFill>
                <a:latin typeface="Helvetica Neue"/>
              </a:rPr>
              <a:t>We tried to break it, on messages it had never seen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434840"/>
            <a:ext cx="853135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6B7A72"/>
                </a:solidFill>
                <a:latin typeface="Helvetica Neue"/>
              </a:rPr>
              <a:t>Jailbreaks, reassurance bait, diagnosis bait, role override, hidden crisis. The first red team passed 36 of 48; we fixed what failed and it passed 48 of 48. Then a fresh held-out set: 38 of 40.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B7A72"/>
                </a:solidFill>
                <a:latin typeface="Helvetica Neue"/>
              </a:rPr>
              <a:t>ZenAI  ·  COSC 490  ·  Group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7095" y="6419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B7A72"/>
                </a:solidFill>
                <a:latin typeface="Helvetica Neue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D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5400" b="1" i="0">
                <a:solidFill>
                  <a:srgbClr val="FFFFFF"/>
                </a:solidFill>
                <a:latin typeface="Helvetica Neue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0" i="0">
                <a:solidFill>
                  <a:srgbClr val="D6E8DF"/>
                </a:solidFill>
                <a:latin typeface="Helvetica Neue"/>
              </a:rPr>
              <a:t>Your phone, our backend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C2620"/>
                </a:solidFill>
                <a:latin typeface="Helvetica Neue"/>
              </a:rPr>
              <a:t>A repository anyone can 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07592"/>
            <a:ext cx="822960" cy="45720"/>
          </a:xfrm>
          <a:prstGeom prst="rect">
            <a:avLst/>
          </a:prstGeom>
          <a:solidFill>
            <a:srgbClr val="1B3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789920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725"/>
              </a:spcAft>
            </a:pPr>
            <a:r>
              <a:rPr sz="1265">
                <a:solidFill>
                  <a:srgbClr val="1B3D6F"/>
                </a:solidFill>
                <a:latin typeface="Helvetica Neue"/>
              </a:rPr>
              <a:t>●  </a:t>
            </a:r>
            <a:r>
              <a:rPr sz="2300" b="1" i="0">
                <a:solidFill>
                  <a:srgbClr val="1C2620"/>
                </a:solidFill>
                <a:latin typeface="Helvetica Neue"/>
              </a:rPr>
              <a:t>56 automated tests</a:t>
            </a:r>
            <a:r>
              <a:rPr sz="2300" b="0" i="0">
                <a:solidFill>
                  <a:srgbClr val="1C2620"/>
                </a:solidFill>
                <a:latin typeface="Helvetica Neue"/>
              </a:rPr>
              <a:t>, run by GitHub Actions on every push</a:t>
            </a:r>
          </a:p>
          <a:p>
            <a:pPr>
              <a:lnSpc>
                <a:spcPct val="110000"/>
              </a:lnSpc>
              <a:spcAft>
                <a:spcPts val="1725"/>
              </a:spcAft>
            </a:pPr>
            <a:r>
              <a:rPr sz="1265">
                <a:solidFill>
                  <a:srgbClr val="1B3D6F"/>
                </a:solidFill>
                <a:latin typeface="Helvetica Neue"/>
              </a:rPr>
              <a:t>●  </a:t>
            </a:r>
            <a:r>
              <a:rPr sz="2300" b="0" i="0">
                <a:solidFill>
                  <a:srgbClr val="1C2620"/>
                </a:solidFill>
                <a:latin typeface="Helvetica Neue"/>
              </a:rPr>
              <a:t>Every number in this deck comes from a </a:t>
            </a:r>
            <a:r>
              <a:rPr sz="2300" b="1" i="0">
                <a:solidFill>
                  <a:srgbClr val="1C2620"/>
                </a:solidFill>
                <a:latin typeface="Helvetica Neue"/>
              </a:rPr>
              <a:t>script in the repo</a:t>
            </a:r>
            <a:r>
              <a:rPr sz="2300" b="0" i="0">
                <a:solidFill>
                  <a:srgbClr val="1C2620"/>
                </a:solidFill>
                <a:latin typeface="Helvetica Neue"/>
              </a:rPr>
              <a:t> with its output in </a:t>
            </a:r>
            <a:r>
              <a:rPr sz="2070" b="0" i="0">
                <a:solidFill>
                  <a:srgbClr val="1C2620"/>
                </a:solidFill>
                <a:latin typeface="Menlo"/>
              </a:rPr>
              <a:t>results/</a:t>
            </a:r>
          </a:p>
          <a:p>
            <a:pPr>
              <a:lnSpc>
                <a:spcPct val="110000"/>
              </a:lnSpc>
              <a:spcAft>
                <a:spcPts val="1725"/>
              </a:spcAft>
            </a:pPr>
            <a:r>
              <a:rPr sz="1265">
                <a:solidFill>
                  <a:srgbClr val="1B3D6F"/>
                </a:solidFill>
                <a:latin typeface="Helvetica Neue"/>
              </a:rPr>
              <a:t>●  </a:t>
            </a:r>
            <a:r>
              <a:rPr sz="2300" b="0" i="0">
                <a:solidFill>
                  <a:srgbClr val="1C2620"/>
                </a:solidFill>
                <a:latin typeface="Helvetica Neue"/>
              </a:rPr>
              <a:t>The counseling rules are written down in </a:t>
            </a:r>
            <a:r>
              <a:rPr sz="2070" b="0" i="0">
                <a:solidFill>
                  <a:srgbClr val="1C2620"/>
                </a:solidFill>
                <a:latin typeface="Menlo"/>
              </a:rPr>
              <a:t>docs/protocol.md</a:t>
            </a:r>
            <a:r>
              <a:rPr sz="2300" b="0" i="0">
                <a:solidFill>
                  <a:srgbClr val="1C2620"/>
                </a:solidFill>
                <a:latin typeface="Helvetica Neue"/>
              </a:rPr>
              <a:t>, and the code follows them</a:t>
            </a:r>
          </a:p>
          <a:p>
            <a:pPr>
              <a:lnSpc>
                <a:spcPct val="110000"/>
              </a:lnSpc>
              <a:spcAft>
                <a:spcPts val="1725"/>
              </a:spcAft>
            </a:pPr>
            <a:r>
              <a:rPr sz="1265">
                <a:solidFill>
                  <a:srgbClr val="1B3D6F"/>
                </a:solidFill>
                <a:latin typeface="Helvetica Neue"/>
              </a:rPr>
              <a:t>●  </a:t>
            </a:r>
            <a:r>
              <a:rPr sz="2300" b="0" i="0">
                <a:solidFill>
                  <a:srgbClr val="1C2620"/>
                </a:solidFill>
                <a:latin typeface="Helvetica Neue"/>
              </a:rPr>
              <a:t>No keys in the repo; nothing a student types is kept</a:t>
            </a:r>
          </a:p>
          <a:p>
            <a:pPr>
              <a:lnSpc>
                <a:spcPct val="110000"/>
              </a:lnSpc>
              <a:spcAft>
                <a:spcPts val="1725"/>
              </a:spcAft>
            </a:pPr>
            <a:r>
              <a:rPr sz="1265">
                <a:solidFill>
                  <a:srgbClr val="1B3D6F"/>
                </a:solidFill>
                <a:latin typeface="Helvetica Neue"/>
              </a:rPr>
              <a:t>●  </a:t>
            </a:r>
            <a:r>
              <a:rPr sz="2300" b="0" i="0">
                <a:solidFill>
                  <a:srgbClr val="1C2620"/>
                </a:solidFill>
                <a:latin typeface="Helvetica Neue"/>
              </a:rPr>
              <a:t>github.com/Chinonsocheq21/Zenai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B7A72"/>
                </a:solidFill>
                <a:latin typeface="Helvetica Neue"/>
              </a:rPr>
              <a:t>ZenAI  ·  COSC 490  ·  Group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7095" y="6419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B7A72"/>
                </a:solidFill>
                <a:latin typeface="Helvetica Neue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34440"/>
            <a:ext cx="1097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0" b="0" i="0">
                <a:solidFill>
                  <a:srgbClr val="1B3D6F"/>
                </a:solidFill>
                <a:latin typeface="Georgia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965960"/>
            <a:ext cx="932688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0" i="0">
                <a:solidFill>
                  <a:srgbClr val="1C2620"/>
                </a:solidFill>
                <a:latin typeface="Georgia"/>
              </a:rPr>
              <a:t>ZenAI. A place to slow down for a minute.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0" y="4572000"/>
            <a:ext cx="822960" cy="45720"/>
          </a:xfrm>
          <a:prstGeom prst="rect">
            <a:avLst/>
          </a:prstGeom>
          <a:solidFill>
            <a:srgbClr val="1B3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4800600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6B7A72"/>
                </a:solidFill>
                <a:latin typeface="Helvetica Neue"/>
              </a:rPr>
              <a:t>zenai.unv.run  ·  github.com/Chinonsocheq21/Zenai  ·  ZenAI is not a counselor. In crisis, call or text 988.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B7A72"/>
                </a:solidFill>
                <a:latin typeface="Helvetica Neue"/>
              </a:rPr>
              <a:t>ZenAI  ·  COSC 490  ·  Group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095" y="6419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B7A72"/>
                </a:solidFill>
                <a:latin typeface="Helvetica Neue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