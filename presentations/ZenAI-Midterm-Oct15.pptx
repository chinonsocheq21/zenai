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ALL FOUR NAMES ON THIS SLIDE: Abraham Irabor · Fnu Soh Tah Fon · Joseph Williams · Chinonso Egeolu. The rubric says 'present in team, grade individually' — a slide that doesn't name you is a slide that doesn't credit you. Add a one-line 'who did what' too.</a:t>
            </a:r>
          </a:p>
          <a:p/>
          <a:p>
            <a:r>
              <a:t>8 minutes. Slide 5 is the 10-point slide. If you run short, cut the demo, never slide 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slide. Same slide in all three presentations.</a:t>
            </a:r>
          </a:p>
          <a:p/>
          <a:p>
            <a:r>
              <a:t>If asked what's new: Woebot, Wysa, Youper, Replika and Ash all control drift with prompt instructions and hope. None of them score each response against the protocol and regenerate when it fails, and none publish a crisis-detection recall number. We do both.</a:t>
            </a:r>
          </a:p>
          <a:p/>
          <a:p>
            <a:r>
              <a:t>Ground it in HIS references: NBK470241 is StatPearls Cognitive Behavior Therapy, and his other clinical link is Cleveland Clinic on ACT. Both are manualised protocols. Say 'we built to the references in the assignment' — that lands.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with the Lucidchart render of diagram 1 (zenai-lucidchart-diagrams.md). Built components shaded, unbuilt outlined — the diagram filling in across three presentations IS the progress story.</a:t>
            </a:r>
          </a:p>
          <a:p/>
          <a:p>
            <a:r>
              <a:t>On Oct 15 shaded: Orchestrator, Mood Check-In, Crisis &amp; Safety, Privacy. Outlined: everything else.</a:t>
            </a:r>
          </a:p>
          <a:p/>
          <a:p>
            <a:r>
              <a:t>Have the sequence diagram (diagram 2) as a backup slide for 'how does it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says verbatim 'show your development environment.' This slide is points. Screenshot it — do not run compose live unless rehearsed and fast.</a:t>
            </a:r>
          </a:p>
          <a:p/>
          <a:p>
            <a:r>
              <a:t>Code must be pushed to GitHub BEFORE class: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10-POINT SLIDE. ***</a:t>
            </a:r>
          </a:p>
          <a:p/>
          <a:p>
            <a:r>
              <a:t>Rubric: 'Core areas: for AI/ML related projects, it means the model and training. GUI/front end does not count at this stage.'</a:t>
            </a:r>
          </a:p>
          <a:p/>
          <a:p>
            <a:r>
              <a:t>Fill every [VALUE] from the eval notebook. Do NOT present this with a placeholder on it — if a number isn't ready by Oct 13, cut the claim rather than estimating it.</a:t>
            </a:r>
          </a:p>
          <a:p/>
          <a:p>
            <a:r>
              <a:t>The recall-over-precision asymmetry is the bit that reads as senior engineering judgment. Spend 30 seconds on it. Put the threshold curve on screen.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 three times. Seed the database and cache model outputs so this works with the wifi off.</a:t>
            </a:r>
          </a:p>
          <a:p/>
          <a:p>
            <a:r>
              <a:t>If asked why there's no UI: quote the rubric back — GUI doesn't count at this stage, so the effort went into the models. That answer shows you read it.</a:t>
            </a:r>
          </a:p>
          <a:p/>
          <a:p>
            <a:r>
              <a:t>Use a SAFE example message for the crisis demo, and say out loud that it's synthetic.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5 points: 'your goals for the next two weeks and answers questions or suggestions.' Dated commitments.</a:t>
            </a:r>
          </a:p>
          <a:p/>
          <a:p>
            <a:r>
              <a:t>Then STOP. Leave 2 minutes for questions.</a:t>
            </a:r>
          </a:p>
          <a:p/>
          <a:p>
            <a:r>
              <a:t>Prepare for the ethics question — it WILL come. The answer: ZenAI is not a counselor and never claims to be, it escalates rather than treats, the safety rail runs before any therapy content is generated, and the same mechanism that keeps it in protocol is the one that keeps it safe. Lead with that rather than defending.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914400" y="2148840"/>
            <a:ext cx="146304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32720" cy="1828800"/>
          </a:xfrm>
          <a:prstGeom prst="rect">
            <a:avLst/>
          </a:prstGeom>
          <a:noFill/>
        </p:spPr>
        <p:txBody>
          <a:bodyPr wrap="square" lIns="0" rIns="0" tIns="0" bIns="0">
            <a:spAutoFit/>
          </a:bodyPr>
          <a:lstStyle/>
          <a:p>
            <a:pPr algn="l">
              <a:spcAft>
                <a:spcPts val="1400"/>
              </a:spcAft>
            </a:pPr>
            <a:r>
              <a:rPr sz="6600" b="0" i="0">
                <a:solidFill>
                  <a:srgbClr val="1C2620"/>
                </a:solidFill>
                <a:latin typeface="Georgia"/>
              </a:rPr>
              <a:t>ZenAI</a:t>
            </a:r>
          </a:p>
        </p:txBody>
      </p:sp>
      <p:sp>
        <p:nvSpPr>
          <p:cNvPr id="4" name="TextBox 3"/>
          <p:cNvSpPr txBox="1"/>
          <p:nvPr/>
        </p:nvSpPr>
        <p:spPr>
          <a:xfrm>
            <a:off x="914400" y="3977639"/>
            <a:ext cx="9601200" cy="1463040"/>
          </a:xfrm>
          <a:prstGeom prst="rect">
            <a:avLst/>
          </a:prstGeom>
          <a:noFill/>
        </p:spPr>
        <p:txBody>
          <a:bodyPr wrap="square" lIns="0" rIns="0" tIns="0" bIns="0">
            <a:spAutoFit/>
          </a:bodyPr>
          <a:lstStyle/>
          <a:p>
            <a:pPr algn="l">
              <a:spcAft>
                <a:spcPts val="800"/>
              </a:spcAft>
            </a:pPr>
            <a:r>
              <a:rPr sz="1700" b="0" i="0">
                <a:solidFill>
                  <a:srgbClr val="6B7A72"/>
                </a:solidFill>
                <a:latin typeface="Helvetica Neue"/>
              </a:rPr>
              <a:t>An AI counselor that stays inside the protocol  ·  COSC 490 Project 5 · Group 3  ·  Oct 15, 2026</a:t>
            </a:r>
          </a:p>
        </p:txBody>
      </p:sp>
      <p:sp>
        <p:nvSpPr>
          <p:cNvPr id="5" name="TextBox 4"/>
          <p:cNvSpPr txBox="1"/>
          <p:nvPr/>
        </p:nvSpPr>
        <p:spPr>
          <a:xfrm>
            <a:off x="914400" y="5760720"/>
            <a:ext cx="10332720" cy="457200"/>
          </a:xfrm>
          <a:prstGeom prst="rect">
            <a:avLst/>
          </a:prstGeom>
          <a:noFill/>
        </p:spPr>
        <p:txBody>
          <a:bodyPr wrap="square" lIns="0" rIns="0" tIns="0" bIns="0">
            <a:spAutoFit/>
          </a:bodyPr>
          <a:lstStyle/>
          <a:p>
            <a:pPr algn="l">
              <a:spcAft>
                <a:spcPts val="800"/>
              </a:spcAft>
            </a:pPr>
            <a:r>
              <a:rPr sz="14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822960" y="1371600"/>
            <a:ext cx="3200400" cy="2377440"/>
          </a:xfrm>
          <a:prstGeom prst="rect">
            <a:avLst/>
          </a:prstGeom>
          <a:solidFill>
            <a:srgbClr val="E3EFE9"/>
          </a:solidFill>
          <a:ln w="25400">
            <a:solidFill>
              <a:srgbClr val="2F6F5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pPr>
            <a:r>
              <a:rPr sz="6000" b="0" i="0">
                <a:solidFill>
                  <a:srgbClr val="2F6F5E"/>
                </a:solidFill>
                <a:latin typeface="Georgia"/>
              </a:rPr>
              <a:t>Drift</a:t>
            </a:r>
          </a:p>
        </p:txBody>
      </p:sp>
      <p:sp>
        <p:nvSpPr>
          <p:cNvPr id="3" name="TextBox 2"/>
          <p:cNvSpPr txBox="1"/>
          <p:nvPr/>
        </p:nvSpPr>
        <p:spPr>
          <a:xfrm>
            <a:off x="4572000" y="1371600"/>
            <a:ext cx="6858000" cy="1463040"/>
          </a:xfrm>
          <a:prstGeom prst="rect">
            <a:avLst/>
          </a:prstGeom>
          <a:noFill/>
        </p:spPr>
        <p:txBody>
          <a:bodyPr wrap="square" lIns="0" rIns="0" tIns="0" bIns="0">
            <a:spAutoFit/>
          </a:bodyPr>
          <a:lstStyle/>
          <a:p>
            <a:pPr algn="l">
              <a:spcAft>
                <a:spcPts val="1600"/>
              </a:spcAft>
            </a:pPr>
            <a:r>
              <a:rPr sz="3000" b="0" i="0">
                <a:solidFill>
                  <a:srgbClr val="1C2620"/>
                </a:solidFill>
                <a:latin typeface="Georgia"/>
              </a:rPr>
              <a:t>Every AI counselor on the market drifts out of protocol</a:t>
            </a:r>
          </a:p>
        </p:txBody>
      </p:sp>
      <p:sp>
        <p:nvSpPr>
          <p:cNvPr id="4" name="TextBox 3"/>
          <p:cNvSpPr txBox="1"/>
          <p:nvPr/>
        </p:nvSpPr>
        <p:spPr>
          <a:xfrm>
            <a:off x="4572000" y="3017520"/>
            <a:ext cx="6858000" cy="2743200"/>
          </a:xfrm>
          <a:prstGeom prst="rect">
            <a:avLst/>
          </a:prstGeom>
          <a:noFill/>
        </p:spPr>
        <p:txBody>
          <a:bodyPr wrap="square" lIns="0" rIns="0" tIns="0" bIns="0">
            <a:spAutoFit/>
          </a:bodyPr>
          <a:lstStyle/>
          <a:p>
            <a:pPr algn="l">
              <a:spcAft>
                <a:spcPts val="800"/>
              </a:spcAft>
            </a:pPr>
            <a:r>
              <a:rPr sz="1600" b="0" i="0">
                <a:solidFill>
                  <a:srgbClr val="6B7A72"/>
                </a:solidFill>
                <a:latin typeface="Helvetica Neue"/>
              </a:rPr>
              <a:t>It starts giving advice, reassuring, quietly diagnosing — the three things a trained counselor is taught NOT to do. Nobody scores for it. Nobody publishes a drift rate. ZenAI refuses to send a reply that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640080"/>
          </a:xfrm>
          <a:prstGeom prst="rect">
            <a:avLst/>
          </a:prstGeom>
          <a:noFill/>
        </p:spPr>
        <p:txBody>
          <a:bodyPr wrap="square" lIns="0" rIns="0" tIns="0" bIns="0">
            <a:spAutoFit/>
          </a:bodyPr>
          <a:lstStyle/>
          <a:p>
            <a:pPr algn="l">
              <a:spcAft>
                <a:spcPts val="800"/>
              </a:spcAft>
            </a:pPr>
            <a:r>
              <a:rPr sz="3000" b="0" i="0">
                <a:solidFill>
                  <a:srgbClr val="1C2620"/>
                </a:solidFill>
                <a:latin typeface="Georgia"/>
              </a:rPr>
              <a:t>Architecture — ten agents, four tiers</a:t>
            </a:r>
          </a:p>
        </p:txBody>
      </p:sp>
      <p:sp>
        <p:nvSpPr>
          <p:cNvPr id="3" name="Rectangle 2"/>
          <p:cNvSpPr/>
          <p:nvPr/>
        </p:nvSpPr>
        <p:spPr>
          <a:xfrm>
            <a:off x="731520" y="1143000"/>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architecture.png"/>
          <p:cNvPicPr>
            <a:picLocks noChangeAspect="1"/>
          </p:cNvPicPr>
          <p:nvPr/>
        </p:nvPicPr>
        <p:blipFill>
          <a:blip r:embed="rId2"/>
          <a:stretch>
            <a:fillRect/>
          </a:stretch>
        </p:blipFill>
        <p:spPr>
          <a:xfrm>
            <a:off x="2331720" y="1417320"/>
            <a:ext cx="5157769" cy="4709160"/>
          </a:xfrm>
          <a:prstGeom prst="rect">
            <a:avLst/>
          </a:prstGeom>
        </p:spPr>
      </p:pic>
      <p:sp>
        <p:nvSpPr>
          <p:cNvPr id="5" name="TextBox 4"/>
          <p:cNvSpPr txBox="1"/>
          <p:nvPr/>
        </p:nvSpPr>
        <p:spPr>
          <a:xfrm>
            <a:off x="731520" y="6263640"/>
            <a:ext cx="10789920" cy="457200"/>
          </a:xfrm>
          <a:prstGeom prst="rect">
            <a:avLst/>
          </a:prstGeom>
          <a:noFill/>
        </p:spPr>
        <p:txBody>
          <a:bodyPr wrap="square" lIns="0" rIns="0" tIns="0" bIns="0">
            <a:spAutoFit/>
          </a:bodyPr>
          <a:lstStyle/>
          <a:p>
            <a:pPr algn="l">
              <a:spcAft>
                <a:spcPts val="800"/>
              </a:spcAft>
            </a:pPr>
            <a:r>
              <a:rPr sz="1300" b="0" i="1">
                <a:solidFill>
                  <a:srgbClr val="6B7A72"/>
                </a:solidFill>
                <a:latin typeface="Helvetica Neue"/>
              </a:rPr>
              <a:t>Shaded = built.  Outlined = next.  The yellow box is the contribution.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Development environment</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649224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docker compose up — api · worker · postgres+pgvector · redis</a:t>
            </a:r>
          </a:p>
          <a:p>
            <a:pPr algn="l">
              <a:spcAft>
                <a:spcPts val="1500"/>
              </a:spcAft>
            </a:pPr>
            <a:r>
              <a:rPr sz="1700" b="0" i="0">
                <a:solidFill>
                  <a:srgbClr val="1C2620"/>
                </a:solidFill>
                <a:latin typeface="Helvetica Neue"/>
              </a:rPr>
              <a:t>—   Schema from the ER model: sessions · turns · mood_points · fidelity_scores · escalations</a:t>
            </a:r>
          </a:p>
          <a:p>
            <a:pPr algn="l">
              <a:spcAft>
                <a:spcPts val="1500"/>
              </a:spcAft>
            </a:pPr>
            <a:r>
              <a:rPr sz="1700" b="0" i="0">
                <a:solidFill>
                  <a:srgbClr val="1C2620"/>
                </a:solidFill>
                <a:latin typeface="Helvetica Neue"/>
              </a:rPr>
              <a:t>—   GitHub Actions green on every PR; main branch-protected</a:t>
            </a:r>
          </a:p>
          <a:p>
            <a:pPr algn="l">
              <a:spcAft>
                <a:spcPts val="1500"/>
              </a:spcAft>
            </a:pPr>
            <a:r>
              <a:rPr sz="1700" b="0" i="0">
                <a:solidFill>
                  <a:srgbClr val="1C2620"/>
                </a:solidFill>
                <a:latin typeface="Helvetica Neue"/>
              </a:rPr>
              <a:t>—   Every model call logged to runs — latency and cost</a:t>
            </a:r>
          </a:p>
          <a:p>
            <a:pPr algn="l">
              <a:spcAft>
                <a:spcPts val="1500"/>
              </a:spcAft>
            </a:pPr>
            <a:r>
              <a:rPr sz="1700" b="0" i="0">
                <a:solidFill>
                  <a:srgbClr val="1C2620"/>
                </a:solidFill>
                <a:latin typeface="Helvetica Neue"/>
              </a:rPr>
              <a:t>—   Diagrams as code in the repo, rendered in Lucidchart</a:t>
            </a:r>
          </a:p>
        </p:txBody>
      </p:sp>
      <p:sp>
        <p:nvSpPr>
          <p:cNvPr id="5" name="Rectangle 4"/>
          <p:cNvSpPr/>
          <p:nvPr/>
        </p:nvSpPr>
        <p:spPr>
          <a:xfrm>
            <a:off x="7589520" y="1691640"/>
            <a:ext cx="3840480" cy="4023360"/>
          </a:xfrm>
          <a:prstGeom prst="rect">
            <a:avLst/>
          </a:prstGeom>
          <a:solidFill>
            <a:srgbClr val="F2EFE9"/>
          </a:solidFill>
          <a:ln>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pPr>
            <a:r>
              <a:rPr sz="1300" b="0" i="1">
                <a:solidFill>
                  <a:srgbClr val="6B7A72"/>
                </a:solidFill>
                <a:latin typeface="Helvetica Neue"/>
              </a:rPr>
              <a:t>[ screenshot: docker compose up,
4 services healthy + green CI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Core area: two trained models</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a:t>
            </a:r>
            <a:r>
              <a:rPr sz="1700" b="1" i="0">
                <a:solidFill>
                  <a:srgbClr val="1C2620"/>
                </a:solidFill>
                <a:latin typeface="Helvetica Neue"/>
              </a:rPr>
              <a:t>Data</a:t>
            </a:r>
            <a:r>
              <a:rPr sz="1700" b="0" i="0">
                <a:solidFill>
                  <a:srgbClr val="1C2620"/>
                </a:solidFill>
                <a:latin typeface="Helvetica Neue"/>
              </a:rPr>
              <a:t> — GoEmotions (58k) · dair-ai/emotion (20k) · EmpatheticDialogues (25k). Real datasets, held-out splits</a:t>
            </a:r>
          </a:p>
          <a:p>
            <a:pPr algn="l">
              <a:spcAft>
                <a:spcPts val="1500"/>
              </a:spcAft>
            </a:pPr>
            <a:r>
              <a:rPr sz="1700" b="0" i="0">
                <a:solidFill>
                  <a:srgbClr val="1C2620"/>
                </a:solidFill>
                <a:latin typeface="Helvetica Neue"/>
              </a:rPr>
              <a:t>—   </a:t>
            </a:r>
            <a:r>
              <a:rPr sz="1700" b="1" i="0">
                <a:solidFill>
                  <a:srgbClr val="1C2620"/>
                </a:solidFill>
                <a:latin typeface="Helvetica Neue"/>
              </a:rPr>
              <a:t>Model 1 · Distress classifier</a:t>
            </a:r>
            <a:r>
              <a:rPr sz="1700" b="0" i="0">
                <a:solidFill>
                  <a:srgbClr val="1C2620"/>
                </a:solidFill>
                <a:latin typeface="Helvetica Neue"/>
              </a:rPr>
              <a:t> — distilroberta fine-tune → overwhelm / anxiety / low mood / isolation / anger / neutral</a:t>
            </a:r>
          </a:p>
          <a:p>
            <a:pPr algn="l">
              <a:spcAft>
                <a:spcPts val="1500"/>
              </a:spcAft>
            </a:pPr>
            <a:r>
              <a:rPr sz="1700" b="0" i="0">
                <a:solidFill>
                  <a:srgbClr val="1C2620"/>
                </a:solidFill>
                <a:latin typeface="Helvetica Neue"/>
              </a:rPr>
              <a:t>—   macro-F1 [VALUE] vs TF-IDF+logistic baseline [VALUE] vs majority class [VALUE]</a:t>
            </a:r>
          </a:p>
          <a:p>
            <a:pPr algn="l">
              <a:spcAft>
                <a:spcPts val="1500"/>
              </a:spcAft>
            </a:pPr>
            <a:r>
              <a:rPr sz="1700" b="0" i="0">
                <a:solidFill>
                  <a:srgbClr val="1C2620"/>
                </a:solidFill>
                <a:latin typeface="Helvetica Neue"/>
              </a:rPr>
              <a:t>—   </a:t>
            </a:r>
            <a:r>
              <a:rPr sz="1700" b="1" i="0">
                <a:solidFill>
                  <a:srgbClr val="1C2620"/>
                </a:solidFill>
                <a:latin typeface="Helvetica Neue"/>
              </a:rPr>
              <a:t>Model 2 · Crisis classifier</a:t>
            </a:r>
            <a:r>
              <a:rPr sz="1700" b="0" i="0">
                <a:solidFill>
                  <a:srgbClr val="1C2620"/>
                </a:solidFill>
                <a:latin typeface="Helvetica Neue"/>
              </a:rPr>
              <a:t> — </a:t>
            </a:r>
            <a:r>
              <a:rPr sz="1700" b="1" i="0">
                <a:solidFill>
                  <a:srgbClr val="1C2620"/>
                </a:solidFill>
                <a:latin typeface="Helvetica Neue"/>
              </a:rPr>
              <a:t>optimised for recall, not accuracy</a:t>
            </a:r>
          </a:p>
          <a:p>
            <a:pPr algn="l">
              <a:spcAft>
                <a:spcPts val="1500"/>
              </a:spcAft>
            </a:pPr>
            <a:r>
              <a:rPr sz="1700" b="0" i="0">
                <a:solidFill>
                  <a:srgbClr val="1C2620"/>
                </a:solidFill>
                <a:latin typeface="Helvetica Neue"/>
              </a:rPr>
              <a:t>—   recall [VALUE] · precision [VALUE] · full confusion matrix · chosen operating point and why</a:t>
            </a:r>
          </a:p>
          <a:p>
            <a:pPr algn="l">
              <a:spcAft>
                <a:spcPts val="1500"/>
              </a:spcAft>
            </a:pPr>
            <a:r>
              <a:rPr sz="1700" b="0" i="0">
                <a:solidFill>
                  <a:srgbClr val="1C2620"/>
                </a:solidFill>
                <a:latin typeface="Helvetica Neue"/>
              </a:rPr>
              <a:t>—   </a:t>
            </a:r>
            <a:r>
              <a:rPr sz="1700" b="1" i="0">
                <a:solidFill>
                  <a:srgbClr val="1C2620"/>
                </a:solidFill>
                <a:latin typeface="Helvetica Neue"/>
              </a:rPr>
              <a:t>The judgment:</a:t>
            </a:r>
            <a:r>
              <a:rPr sz="1700" b="0" i="0">
                <a:solidFill>
                  <a:srgbClr val="1C2620"/>
                </a:solidFill>
                <a:latin typeface="Helvetica Neue"/>
              </a:rPr>
              <a:t> a missed crisis and a false alarm are not the same error. We deliberately paid precision for recall — here is the threshold curve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Live demo — 90 seconds</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POST /analyze — a student message in, distress distribution and risk score out</a:t>
            </a:r>
          </a:p>
          <a:p>
            <a:pPr algn="l">
              <a:spcAft>
                <a:spcPts val="1500"/>
              </a:spcAft>
            </a:pPr>
            <a:r>
              <a:rPr sz="1700" b="0" i="0">
                <a:solidFill>
                  <a:srgbClr val="1C2620"/>
                </a:solidFill>
                <a:latin typeface="Helvetica Neue"/>
              </a:rPr>
              <a:t>—   A crisis-flagged message → the escalation path fires, conversation stops</a:t>
            </a:r>
          </a:p>
          <a:p>
            <a:pPr algn="l">
              <a:spcAft>
                <a:spcPts val="1500"/>
              </a:spcAft>
            </a:pPr>
            <a:r>
              <a:rPr sz="1700" b="0" i="0">
                <a:solidFill>
                  <a:srgbClr val="1C2620"/>
                </a:solidFill>
                <a:latin typeface="Helvetica Neue"/>
              </a:rPr>
              <a:t>—   GET /runs/{id} — the full trace: which agents fired, in what order, what it cost</a:t>
            </a:r>
          </a:p>
          <a:p>
            <a:pPr algn="l">
              <a:spcAft>
                <a:spcPts val="1500"/>
              </a:spcAft>
            </a:pPr>
            <a:r>
              <a:rPr sz="1700" b="0" i="0">
                <a:solidFill>
                  <a:srgbClr val="1C2620"/>
                </a:solidFill>
                <a:latin typeface="Helvetica Neue"/>
              </a:rPr>
              <a:t>—   From FastAPI's /docs page — </a:t>
            </a:r>
            <a:r>
              <a:rPr sz="1700" b="1" i="0">
                <a:solidFill>
                  <a:srgbClr val="1C2620"/>
                </a:solidFill>
                <a:latin typeface="Helvetica Neue"/>
              </a:rPr>
              <a:t>no front end, by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TextBox 1"/>
          <p:cNvSpPr txBox="1"/>
          <p:nvPr/>
        </p:nvSpPr>
        <p:spPr>
          <a:xfrm>
            <a:off x="731520" y="502920"/>
            <a:ext cx="10789920" cy="731520"/>
          </a:xfrm>
          <a:prstGeom prst="rect">
            <a:avLst/>
          </a:prstGeom>
          <a:noFill/>
        </p:spPr>
        <p:txBody>
          <a:bodyPr wrap="square" lIns="0" rIns="0" tIns="0" bIns="0">
            <a:spAutoFit/>
          </a:bodyPr>
          <a:lstStyle/>
          <a:p>
            <a:pPr algn="l">
              <a:spcAft>
                <a:spcPts val="800"/>
              </a:spcAft>
            </a:pPr>
            <a:r>
              <a:rPr sz="3200" b="0" i="0">
                <a:solidFill>
                  <a:srgbClr val="1C2620"/>
                </a:solidFill>
                <a:latin typeface="Georgia"/>
              </a:rPr>
              <a:t>Next two weeks</a:t>
            </a:r>
          </a:p>
        </p:txBody>
      </p:sp>
      <p:sp>
        <p:nvSpPr>
          <p:cNvPr id="3" name="Rectangle 2"/>
          <p:cNvSpPr/>
          <p:nvPr/>
        </p:nvSpPr>
        <p:spPr>
          <a:xfrm>
            <a:off x="731520" y="1207008"/>
            <a:ext cx="1188720" cy="32004"/>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10789920" cy="4572000"/>
          </a:xfrm>
          <a:prstGeom prst="rect">
            <a:avLst/>
          </a:prstGeom>
          <a:noFill/>
        </p:spPr>
        <p:txBody>
          <a:bodyPr wrap="square" lIns="0" rIns="0" tIns="0" bIns="0">
            <a:spAutoFit/>
          </a:bodyPr>
          <a:lstStyle/>
          <a:p>
            <a:pPr algn="l">
              <a:spcAft>
                <a:spcPts val="1500"/>
              </a:spcAft>
            </a:pPr>
            <a:r>
              <a:rPr sz="1700" b="0" i="0">
                <a:solidFill>
                  <a:srgbClr val="1C2620"/>
                </a:solidFill>
                <a:latin typeface="Helvetica Neue"/>
              </a:rPr>
              <a:t>—   </a:t>
            </a:r>
            <a:r>
              <a:rPr sz="1700" b="1" i="0">
                <a:solidFill>
                  <a:srgbClr val="1C2620"/>
                </a:solidFill>
                <a:latin typeface="Helvetica Neue"/>
              </a:rPr>
              <a:t>Oct 22</a:t>
            </a:r>
            <a:r>
              <a:rPr sz="1700" b="0" i="0">
                <a:solidFill>
                  <a:srgbClr val="1C2620"/>
                </a:solidFill>
                <a:latin typeface="Helvetica Neue"/>
              </a:rPr>
              <a:t> — Conversation Agent on the written ACT/CBT protocol</a:t>
            </a:r>
          </a:p>
          <a:p>
            <a:pPr algn="l">
              <a:spcAft>
                <a:spcPts val="1500"/>
              </a:spcAft>
            </a:pPr>
            <a:r>
              <a:rPr sz="1700" b="0" i="0">
                <a:solidFill>
                  <a:srgbClr val="1C2620"/>
                </a:solidFill>
                <a:latin typeface="Helvetica Neue"/>
              </a:rPr>
              <a:t>—   </a:t>
            </a:r>
            <a:r>
              <a:rPr sz="1700" b="1" i="0">
                <a:solidFill>
                  <a:srgbClr val="1C2620"/>
                </a:solidFill>
                <a:latin typeface="Helvetica Neue"/>
              </a:rPr>
              <a:t>Oct 27</a:t>
            </a:r>
            <a:r>
              <a:rPr sz="1700" b="0" i="0">
                <a:solidFill>
                  <a:srgbClr val="1C2620"/>
                </a:solidFill>
                <a:latin typeface="Helvetica Neue"/>
              </a:rPr>
              <a:t> — Fidelity Monitor: every reply scored against the six ACT processes, drift rejected and regenerated</a:t>
            </a:r>
          </a:p>
          <a:p>
            <a:pPr algn="l">
              <a:spcAft>
                <a:spcPts val="1500"/>
              </a:spcAft>
            </a:pPr>
            <a:r>
              <a:rPr sz="1700" b="0" i="0">
                <a:solidFill>
                  <a:srgbClr val="1C2620"/>
                </a:solidFill>
                <a:latin typeface="Helvetica Neue"/>
              </a:rPr>
              <a:t>—   </a:t>
            </a:r>
            <a:r>
              <a:rPr sz="1700" b="1" i="0">
                <a:solidFill>
                  <a:srgbClr val="1C2620"/>
                </a:solidFill>
                <a:latin typeface="Helvetica Neue"/>
              </a:rPr>
              <a:t>Nov 3</a:t>
            </a:r>
            <a:r>
              <a:rPr sz="1700" b="0" i="0">
                <a:solidFill>
                  <a:srgbClr val="1C2620"/>
                </a:solidFill>
                <a:latin typeface="Helvetica Neue"/>
              </a:rPr>
              <a:t> — Experiment E1: 400 turns, monitor off vs on, 120 hand-audited → the drift rate</a:t>
            </a:r>
          </a:p>
          <a:p>
            <a:pPr algn="l">
              <a:spcAft>
                <a:spcPts val="1500"/>
              </a:spcAft>
            </a:pPr>
            <a:r>
              <a:rPr sz="1700" b="0" i="0">
                <a:solidFill>
                  <a:srgbClr val="1C2620"/>
                </a:solidFill>
                <a:latin typeface="Helvetica Neue"/>
              </a:rPr>
              <a:t>—   Target for Nov 5: fidelity numbers, and the Tier-2 specialists routed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