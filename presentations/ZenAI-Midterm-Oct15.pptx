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ALL FOUR NAMES ON THIS SLIDE: Abraham Irabor · Fnu Soh Tah Fon · Joseph Williams · Chinonso Egeolu. The rubric says 'present in team, grade individually' — a slide that doesn't name you is a slide that doesn't credit you. Add a one-line 'who did what' too.</a:t>
            </a:r>
          </a:p>
          <a:p/>
          <a:p>
            <a:r>
              <a:t>8 minutes. Slide 5 is the 10-point slide. If you run short, cut the demo, never slide 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thesis slide. Same slide in all three presentations.</a:t>
            </a:r>
          </a:p>
          <a:p/>
          <a:p>
            <a:r>
              <a:t>If asked what's new: Woebot, Wysa, Youper, Replika and Ash all control drift with prompt instructions and hope. None of them score each response against the protocol and regenerate when it fails, and none publish a crisis-detection recall number. We do both.</a:t>
            </a:r>
          </a:p>
          <a:p/>
          <a:p>
            <a:r>
              <a:t>Ground it in HIS references: NBK470241 is StatPearls Cognitive Behavior Therapy, and his other clinical link is Cleveland Clinic on ACT. Both are manualised protocols. Say 'we built to the references in the assignment' — that lands.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 with the Lucidchart render of diagram 1 (zenai-lucidchart-diagrams.md). Built components shaded, unbuilt outlined — the diagram filling in across three presentations IS the progress story.</a:t>
            </a:r>
          </a:p>
          <a:p/>
          <a:p>
            <a:r>
              <a:t>On Oct 15 shaded: Orchestrator, Mood Check-In, Crisis &amp; Safety, Privacy. Outlined: everything else.</a:t>
            </a:r>
          </a:p>
          <a:p/>
          <a:p>
            <a:r>
              <a:t>Have the sequence diagram (diagram 2) as a backup slide for 'how does it actually 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rubric says verbatim 'show your development environment.' This slide is points. Screenshot it — do not run compose live unless rehearsed and fast.</a:t>
            </a:r>
          </a:p>
          <a:p/>
          <a:p>
            <a:r>
              <a:t>Code must be pushed to GitHub BEFORE class: 'All coding related should be uploaded to github.'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10-POINT SLIDE. ***</a:t>
            </a:r>
          </a:p>
          <a:p/>
          <a:p>
            <a:r>
              <a:t>Rubric: 'Core areas: for AI/ML related projects, it means the model and training. GUI/front end does not count at this stage.'</a:t>
            </a:r>
          </a:p>
          <a:p/>
          <a:p>
            <a:r>
              <a:t>EVERY NUMBER HERE IS REAL, measured on 2026-10-09. Source: models/distress/metrics_baseline.json, metrics_baseline_nosupp.json, ablation_summary.json in the repo. Do not change them without re-running training/train_distress.py.</a:t>
            </a:r>
          </a:p>
          <a:p/>
          <a:p>
            <a:r>
              <a:t>Lead with the isolation finding — a class that could not be predicted at all, because the dataset everybody uses has no label for loneliness. That is a real methodological result and it is the most interesting thing on this slide.</a:t>
            </a:r>
          </a:p>
          <a:p/>
          <a:p>
            <a:r>
              <a:t>Be straight about the last bullet. Saying 'the transformer is training and here is the baseline it has to beat' is stronger than implying it is done. If it IS done by Oct 13, replace that bullet with its numbers and say by how much it beat 0.521.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money chart. Spend 60 seconds here.</a:t>
            </a:r>
          </a:p>
          <a:p/>
          <a:p>
            <a:r>
              <a:t>The argument in one line: we did not just throw more data at it — we identified a specific hole in the standard dataset, filled it from a second source, and measured what that bought. +0.076 macro-F1, and one class went from impossible to usable.</a:t>
            </a:r>
          </a:p>
          <a:p/>
          <a:p>
            <a:r>
              <a:t>If asked why overwhelm got slightly WORSE: because the supplement shifted the class balance and overwhelm's source mapping was always weak. We are reporting it rather than hiding it, and the fix is hand-labelling, not more scraping.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Rehearse three times. Seed the database and cache model outputs so this works with the wifi off.</a:t>
            </a:r>
          </a:p>
          <a:p/>
          <a:p>
            <a:r>
              <a:t>If asked why there's no UI: quote the rubric back — GUI doesn't count at this stage, so the effort went into the models. That answer shows you read it.</a:t>
            </a:r>
          </a:p>
          <a:p/>
          <a:p>
            <a:r>
              <a:t>Use a SAFE example message for the crisis demo, and say out loud that it's synthetic.</a:t>
            </a:r>
          </a:p>
          <a:p/>
          <a:p>
            <a:r>
              <a:t>The distress model is trained and loadable. The crisis rail currently runs on the recall-favouring lexicon floor with the classifier going in on top — say that plainly rather than implying the classifier is live. The lexicon is not a placeholder: it stays after training, ORed with the model, so the model can never talk the floor down.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5 points: 'your goals for the next two weeks and answers questions or suggestions.' Dated commitments.</a:t>
            </a:r>
          </a:p>
          <a:p/>
          <a:p>
            <a:r>
              <a:t>Then STOP. Leave 2 minutes for questions.</a:t>
            </a:r>
          </a:p>
          <a:p/>
          <a:p>
            <a:r>
              <a:t>Prepare for the ethics question — it WILL come. The answer: ZenAI is not a counselor and never claims to be, it escalates rather than treats, the safety rail runs before any therapy content is generated, and the same mechanism that keeps it in protocol is the one that keeps it safe. Lead with that rather than defending.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914400" y="2148840"/>
            <a:ext cx="1463040" cy="32004"/>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468880"/>
            <a:ext cx="10332720" cy="1828800"/>
          </a:xfrm>
          <a:prstGeom prst="rect">
            <a:avLst/>
          </a:prstGeom>
          <a:noFill/>
        </p:spPr>
        <p:txBody>
          <a:bodyPr wrap="square" lIns="0" rIns="0" tIns="0" bIns="0">
            <a:spAutoFit/>
          </a:bodyPr>
          <a:lstStyle/>
          <a:p>
            <a:pPr algn="l">
              <a:spcAft>
                <a:spcPts val="1400"/>
              </a:spcAft>
            </a:pPr>
            <a:r>
              <a:rPr sz="6600" b="0" i="0">
                <a:solidFill>
                  <a:srgbClr val="1C2620"/>
                </a:solidFill>
                <a:latin typeface="Georgia"/>
              </a:rPr>
              <a:t>ZenAI</a:t>
            </a:r>
          </a:p>
        </p:txBody>
      </p:sp>
      <p:sp>
        <p:nvSpPr>
          <p:cNvPr id="4" name="TextBox 3"/>
          <p:cNvSpPr txBox="1"/>
          <p:nvPr/>
        </p:nvSpPr>
        <p:spPr>
          <a:xfrm>
            <a:off x="914400" y="3977639"/>
            <a:ext cx="9601200" cy="1463040"/>
          </a:xfrm>
          <a:prstGeom prst="rect">
            <a:avLst/>
          </a:prstGeom>
          <a:noFill/>
        </p:spPr>
        <p:txBody>
          <a:bodyPr wrap="square" lIns="0" rIns="0" tIns="0" bIns="0">
            <a:spAutoFit/>
          </a:bodyPr>
          <a:lstStyle/>
          <a:p>
            <a:pPr algn="l">
              <a:spcAft>
                <a:spcPts val="800"/>
              </a:spcAft>
            </a:pPr>
            <a:r>
              <a:rPr sz="1700" b="0" i="0">
                <a:solidFill>
                  <a:srgbClr val="6B7A72"/>
                </a:solidFill>
                <a:latin typeface="Helvetica Neue"/>
              </a:rPr>
              <a:t>An AI counselor that stays inside the protocol  ·  COSC 490 Project 5 · Group 3  ·  Oct 15, 2026</a:t>
            </a:r>
          </a:p>
        </p:txBody>
      </p:sp>
      <p:sp>
        <p:nvSpPr>
          <p:cNvPr id="5" name="TextBox 4"/>
          <p:cNvSpPr txBox="1"/>
          <p:nvPr/>
        </p:nvSpPr>
        <p:spPr>
          <a:xfrm>
            <a:off x="914400" y="5760720"/>
            <a:ext cx="10332720" cy="457200"/>
          </a:xfrm>
          <a:prstGeom prst="rect">
            <a:avLst/>
          </a:prstGeom>
          <a:noFill/>
        </p:spPr>
        <p:txBody>
          <a:bodyPr wrap="square" lIns="0" rIns="0" tIns="0" bIns="0">
            <a:spAutoFit/>
          </a:bodyPr>
          <a:lstStyle/>
          <a:p>
            <a:pPr algn="l">
              <a:spcAft>
                <a:spcPts val="800"/>
              </a:spcAft>
            </a:pPr>
            <a:r>
              <a:rPr sz="1400" b="1" i="0">
                <a:solidFill>
                  <a:srgbClr val="2F6F5E"/>
                </a:solidFill>
                <a:latin typeface="Helvetica Neue"/>
              </a:rPr>
              <a:t>Abraham Irabor  ·  Fnu Soh Tah Fon  ·  Joseph Williams  ·  Chinonso Egeolu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822960" y="1371600"/>
            <a:ext cx="3200400" cy="2377440"/>
          </a:xfrm>
          <a:prstGeom prst="rect">
            <a:avLst/>
          </a:prstGeom>
          <a:solidFill>
            <a:srgbClr val="E3EFE9"/>
          </a:solidFill>
          <a:ln w="25400">
            <a:solidFill>
              <a:srgbClr val="2F6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pPr>
            <a:r>
              <a:rPr sz="6000" b="0" i="0">
                <a:solidFill>
                  <a:srgbClr val="2F6F5E"/>
                </a:solidFill>
                <a:latin typeface="Georgia"/>
              </a:rPr>
              <a:t>Drift</a:t>
            </a:r>
          </a:p>
        </p:txBody>
      </p:sp>
      <p:sp>
        <p:nvSpPr>
          <p:cNvPr id="3" name="TextBox 2"/>
          <p:cNvSpPr txBox="1"/>
          <p:nvPr/>
        </p:nvSpPr>
        <p:spPr>
          <a:xfrm>
            <a:off x="4572000" y="1371600"/>
            <a:ext cx="6858000" cy="1463040"/>
          </a:xfrm>
          <a:prstGeom prst="rect">
            <a:avLst/>
          </a:prstGeom>
          <a:noFill/>
        </p:spPr>
        <p:txBody>
          <a:bodyPr wrap="square" lIns="0" rIns="0" tIns="0" bIns="0">
            <a:spAutoFit/>
          </a:bodyPr>
          <a:lstStyle/>
          <a:p>
            <a:pPr algn="l">
              <a:spcAft>
                <a:spcPts val="1600"/>
              </a:spcAft>
            </a:pPr>
            <a:r>
              <a:rPr sz="3000" b="0" i="0">
                <a:solidFill>
                  <a:srgbClr val="1C2620"/>
                </a:solidFill>
                <a:latin typeface="Georgia"/>
              </a:rPr>
              <a:t>Every AI counselor on the market drifts out of protocol</a:t>
            </a:r>
          </a:p>
        </p:txBody>
      </p:sp>
      <p:sp>
        <p:nvSpPr>
          <p:cNvPr id="4" name="TextBox 3"/>
          <p:cNvSpPr txBox="1"/>
          <p:nvPr/>
        </p:nvSpPr>
        <p:spPr>
          <a:xfrm>
            <a:off x="4572000" y="3017520"/>
            <a:ext cx="6858000" cy="2743200"/>
          </a:xfrm>
          <a:prstGeom prst="rect">
            <a:avLst/>
          </a:prstGeom>
          <a:noFill/>
        </p:spPr>
        <p:txBody>
          <a:bodyPr wrap="square" lIns="0" rIns="0" tIns="0" bIns="0">
            <a:spAutoFit/>
          </a:bodyPr>
          <a:lstStyle/>
          <a:p>
            <a:pPr algn="l">
              <a:spcAft>
                <a:spcPts val="800"/>
              </a:spcAft>
            </a:pPr>
            <a:r>
              <a:rPr sz="1600" b="0" i="0">
                <a:solidFill>
                  <a:srgbClr val="6B7A72"/>
                </a:solidFill>
                <a:latin typeface="Helvetica Neue"/>
              </a:rPr>
              <a:t>It starts giving advice, reassuring, quietly diagnosing — the three things a trained counselor is taught NOT to do. Nobody scores for it. Nobody publishes a drift rate. ZenAI refuses to send a reply that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TextBox 1"/>
          <p:cNvSpPr txBox="1"/>
          <p:nvPr/>
        </p:nvSpPr>
        <p:spPr>
          <a:xfrm>
            <a:off x="731520" y="502920"/>
            <a:ext cx="10789920" cy="640080"/>
          </a:xfrm>
          <a:prstGeom prst="rect">
            <a:avLst/>
          </a:prstGeom>
          <a:noFill/>
        </p:spPr>
        <p:txBody>
          <a:bodyPr wrap="square" lIns="0" rIns="0" tIns="0" bIns="0">
            <a:spAutoFit/>
          </a:bodyPr>
          <a:lstStyle/>
          <a:p>
            <a:pPr algn="l">
              <a:spcAft>
                <a:spcPts val="800"/>
              </a:spcAft>
            </a:pPr>
            <a:r>
              <a:rPr sz="3000" b="0" i="0">
                <a:solidFill>
                  <a:srgbClr val="1C2620"/>
                </a:solidFill>
                <a:latin typeface="Georgia"/>
              </a:rPr>
              <a:t>Architecture — ten agents, four tiers</a:t>
            </a:r>
          </a:p>
        </p:txBody>
      </p:sp>
      <p:sp>
        <p:nvSpPr>
          <p:cNvPr id="3" name="Rectangle 2"/>
          <p:cNvSpPr/>
          <p:nvPr/>
        </p:nvSpPr>
        <p:spPr>
          <a:xfrm>
            <a:off x="731520" y="1143000"/>
            <a:ext cx="1188720" cy="32004"/>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architecture.png"/>
          <p:cNvPicPr>
            <a:picLocks noChangeAspect="1"/>
          </p:cNvPicPr>
          <p:nvPr/>
        </p:nvPicPr>
        <p:blipFill>
          <a:blip r:embed="rId2"/>
          <a:stretch>
            <a:fillRect/>
          </a:stretch>
        </p:blipFill>
        <p:spPr>
          <a:xfrm>
            <a:off x="2331720" y="1417320"/>
            <a:ext cx="5157769" cy="4709160"/>
          </a:xfrm>
          <a:prstGeom prst="rect">
            <a:avLst/>
          </a:prstGeom>
        </p:spPr>
      </p:pic>
      <p:sp>
        <p:nvSpPr>
          <p:cNvPr id="5" name="TextBox 4"/>
          <p:cNvSpPr txBox="1"/>
          <p:nvPr/>
        </p:nvSpPr>
        <p:spPr>
          <a:xfrm>
            <a:off x="731520" y="6263640"/>
            <a:ext cx="10789920" cy="457200"/>
          </a:xfrm>
          <a:prstGeom prst="rect">
            <a:avLst/>
          </a:prstGeom>
          <a:noFill/>
        </p:spPr>
        <p:txBody>
          <a:bodyPr wrap="square" lIns="0" rIns="0" tIns="0" bIns="0">
            <a:spAutoFit/>
          </a:bodyPr>
          <a:lstStyle/>
          <a:p>
            <a:pPr algn="l">
              <a:spcAft>
                <a:spcPts val="800"/>
              </a:spcAft>
            </a:pPr>
            <a:r>
              <a:rPr sz="1300" b="0" i="1">
                <a:solidFill>
                  <a:srgbClr val="6B7A72"/>
                </a:solidFill>
                <a:latin typeface="Helvetica Neue"/>
              </a:rPr>
              <a:t>Shaded = built.  Outlined = next.  The yellow box is the contribution.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TextBox 1"/>
          <p:cNvSpPr txBox="1"/>
          <p:nvPr/>
        </p:nvSpPr>
        <p:spPr>
          <a:xfrm>
            <a:off x="731520" y="502920"/>
            <a:ext cx="10789920" cy="731520"/>
          </a:xfrm>
          <a:prstGeom prst="rect">
            <a:avLst/>
          </a:prstGeom>
          <a:noFill/>
        </p:spPr>
        <p:txBody>
          <a:bodyPr wrap="square" lIns="0" rIns="0" tIns="0" bIns="0">
            <a:spAutoFit/>
          </a:bodyPr>
          <a:lstStyle/>
          <a:p>
            <a:pPr algn="l">
              <a:spcAft>
                <a:spcPts val="800"/>
              </a:spcAft>
            </a:pPr>
            <a:r>
              <a:rPr sz="3200" b="0" i="0">
                <a:solidFill>
                  <a:srgbClr val="1C2620"/>
                </a:solidFill>
                <a:latin typeface="Georgia"/>
              </a:rPr>
              <a:t>Development environment</a:t>
            </a:r>
          </a:p>
        </p:txBody>
      </p:sp>
      <p:sp>
        <p:nvSpPr>
          <p:cNvPr id="3" name="Rectangle 2"/>
          <p:cNvSpPr/>
          <p:nvPr/>
        </p:nvSpPr>
        <p:spPr>
          <a:xfrm>
            <a:off x="731520" y="1207008"/>
            <a:ext cx="1188720" cy="32004"/>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91640"/>
            <a:ext cx="6492240" cy="4572000"/>
          </a:xfrm>
          <a:prstGeom prst="rect">
            <a:avLst/>
          </a:prstGeom>
          <a:noFill/>
        </p:spPr>
        <p:txBody>
          <a:bodyPr wrap="square" lIns="0" rIns="0" tIns="0" bIns="0">
            <a:spAutoFit/>
          </a:bodyPr>
          <a:lstStyle/>
          <a:p>
            <a:pPr algn="l">
              <a:spcAft>
                <a:spcPts val="1500"/>
              </a:spcAft>
            </a:pPr>
            <a:r>
              <a:rPr sz="1700" b="0" i="0">
                <a:solidFill>
                  <a:srgbClr val="1C2620"/>
                </a:solidFill>
                <a:latin typeface="Helvetica Neue"/>
              </a:rPr>
              <a:t>—   docker compose up — api · worker · postgres+pgvector · redis</a:t>
            </a:r>
          </a:p>
          <a:p>
            <a:pPr algn="l">
              <a:spcAft>
                <a:spcPts val="1500"/>
              </a:spcAft>
            </a:pPr>
            <a:r>
              <a:rPr sz="1700" b="0" i="0">
                <a:solidFill>
                  <a:srgbClr val="1C2620"/>
                </a:solidFill>
                <a:latin typeface="Helvetica Neue"/>
              </a:rPr>
              <a:t>—   Schema from the ER model: sessions · turns · mood_points · fidelity_scores · escalations</a:t>
            </a:r>
          </a:p>
          <a:p>
            <a:pPr algn="l">
              <a:spcAft>
                <a:spcPts val="1500"/>
              </a:spcAft>
            </a:pPr>
            <a:r>
              <a:rPr sz="1700" b="0" i="0">
                <a:solidFill>
                  <a:srgbClr val="1C2620"/>
                </a:solidFill>
                <a:latin typeface="Helvetica Neue"/>
              </a:rPr>
              <a:t>—   GitHub Actions green on every PR; main branch-protected</a:t>
            </a:r>
          </a:p>
          <a:p>
            <a:pPr algn="l">
              <a:spcAft>
                <a:spcPts val="1500"/>
              </a:spcAft>
            </a:pPr>
            <a:r>
              <a:rPr sz="1700" b="0" i="0">
                <a:solidFill>
                  <a:srgbClr val="1C2620"/>
                </a:solidFill>
                <a:latin typeface="Helvetica Neue"/>
              </a:rPr>
              <a:t>—   Every model call logged to runs — latency and cost</a:t>
            </a:r>
          </a:p>
          <a:p>
            <a:pPr algn="l">
              <a:spcAft>
                <a:spcPts val="1500"/>
              </a:spcAft>
            </a:pPr>
            <a:r>
              <a:rPr sz="1700" b="0" i="0">
                <a:solidFill>
                  <a:srgbClr val="1C2620"/>
                </a:solidFill>
                <a:latin typeface="Helvetica Neue"/>
              </a:rPr>
              <a:t>—   Diagrams as code in the repo, rendered in Lucidchart</a:t>
            </a:r>
          </a:p>
        </p:txBody>
      </p:sp>
      <p:sp>
        <p:nvSpPr>
          <p:cNvPr id="5" name="Rectangle 4"/>
          <p:cNvSpPr/>
          <p:nvPr/>
        </p:nvSpPr>
        <p:spPr>
          <a:xfrm>
            <a:off x="7589520" y="1691640"/>
            <a:ext cx="3840480" cy="4023360"/>
          </a:xfrm>
          <a:prstGeom prst="rect">
            <a:avLst/>
          </a:prstGeom>
          <a:solidFill>
            <a:srgbClr val="F2EFE9"/>
          </a:solidFill>
          <a:ln>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pPr>
            <a:r>
              <a:rPr sz="1300" b="0" i="1">
                <a:solidFill>
                  <a:srgbClr val="6B7A72"/>
                </a:solidFill>
                <a:latin typeface="Helvetica Neue"/>
              </a:rPr>
              <a:t>[ screenshot: docker compose up,
4 services healthy + green CI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TextBox 1"/>
          <p:cNvSpPr txBox="1"/>
          <p:nvPr/>
        </p:nvSpPr>
        <p:spPr>
          <a:xfrm>
            <a:off x="731520" y="502920"/>
            <a:ext cx="10789920" cy="731520"/>
          </a:xfrm>
          <a:prstGeom prst="rect">
            <a:avLst/>
          </a:prstGeom>
          <a:noFill/>
        </p:spPr>
        <p:txBody>
          <a:bodyPr wrap="square" lIns="0" rIns="0" tIns="0" bIns="0">
            <a:spAutoFit/>
          </a:bodyPr>
          <a:lstStyle/>
          <a:p>
            <a:pPr algn="l">
              <a:spcAft>
                <a:spcPts val="800"/>
              </a:spcAft>
            </a:pPr>
            <a:r>
              <a:rPr sz="3200" b="0" i="0">
                <a:solidFill>
                  <a:srgbClr val="1C2620"/>
                </a:solidFill>
                <a:latin typeface="Georgia"/>
              </a:rPr>
              <a:t>Core area: the distress model</a:t>
            </a:r>
          </a:p>
        </p:txBody>
      </p:sp>
      <p:sp>
        <p:nvSpPr>
          <p:cNvPr id="3" name="Rectangle 2"/>
          <p:cNvSpPr/>
          <p:nvPr/>
        </p:nvSpPr>
        <p:spPr>
          <a:xfrm>
            <a:off x="731520" y="1207008"/>
            <a:ext cx="1188720" cy="32004"/>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91640"/>
            <a:ext cx="10789920" cy="4572000"/>
          </a:xfrm>
          <a:prstGeom prst="rect">
            <a:avLst/>
          </a:prstGeom>
          <a:noFill/>
        </p:spPr>
        <p:txBody>
          <a:bodyPr wrap="square" lIns="0" rIns="0" tIns="0" bIns="0">
            <a:spAutoFit/>
          </a:bodyPr>
          <a:lstStyle/>
          <a:p>
            <a:pPr algn="l">
              <a:spcAft>
                <a:spcPts val="1500"/>
              </a:spcAft>
            </a:pPr>
            <a:r>
              <a:rPr sz="1700" b="0" i="0">
                <a:solidFill>
                  <a:srgbClr val="1C2620"/>
                </a:solidFill>
                <a:latin typeface="Helvetica Neue"/>
              </a:rPr>
              <a:t>—   </a:t>
            </a:r>
            <a:r>
              <a:rPr sz="1700" b="1" i="0">
                <a:solidFill>
                  <a:srgbClr val="1C2620"/>
                </a:solidFill>
                <a:latin typeface="Helvetica Neue"/>
              </a:rPr>
              <a:t>Data</a:t>
            </a:r>
            <a:r>
              <a:rPr sz="1700" b="0" i="0">
                <a:solidFill>
                  <a:srgbClr val="1C2620"/>
                </a:solidFill>
                <a:latin typeface="Helvetica Neue"/>
              </a:rPr>
              <a:t> — GoEmotions (54,263) + an EmpatheticDialogues supplement → </a:t>
            </a:r>
            <a:r>
              <a:rPr sz="1700" b="1" i="0">
                <a:solidFill>
                  <a:srgbClr val="1C2620"/>
                </a:solidFill>
                <a:latin typeface="Helvetica Neue"/>
              </a:rPr>
              <a:t>86,868 examples</a:t>
            </a:r>
            <a:r>
              <a:rPr sz="1700" b="0" i="0">
                <a:solidFill>
                  <a:srgbClr val="1C2620"/>
                </a:solidFill>
                <a:latin typeface="Helvetica Neue"/>
              </a:rPr>
              <a:t>, 6 distress classes, held-out 15% split</a:t>
            </a:r>
          </a:p>
          <a:p>
            <a:pPr algn="l">
              <a:spcAft>
                <a:spcPts val="1500"/>
              </a:spcAft>
            </a:pPr>
            <a:r>
              <a:rPr sz="1700" b="0" i="0">
                <a:solidFill>
                  <a:srgbClr val="1C2620"/>
                </a:solidFill>
                <a:latin typeface="Helvetica Neue"/>
              </a:rPr>
              <a:t>—   </a:t>
            </a:r>
            <a:r>
              <a:rPr sz="1700" b="1" i="0">
                <a:solidFill>
                  <a:srgbClr val="1C2620"/>
                </a:solidFill>
                <a:latin typeface="Helvetica Neue"/>
              </a:rPr>
              <a:t>Trained and measured</a:t>
            </a:r>
            <a:r>
              <a:rPr sz="1700" b="0" i="0">
                <a:solidFill>
                  <a:srgbClr val="1C2620"/>
                </a:solidFill>
                <a:latin typeface="Helvetica Neue"/>
              </a:rPr>
              <a:t> — TF-IDF + logistic regression, class-balanced</a:t>
            </a:r>
          </a:p>
          <a:p>
            <a:pPr algn="l">
              <a:spcAft>
                <a:spcPts val="1500"/>
              </a:spcAft>
            </a:pPr>
            <a:r>
              <a:rPr sz="1700" b="0" i="0">
                <a:solidFill>
                  <a:srgbClr val="1C2620"/>
                </a:solidFill>
                <a:latin typeface="Helvetica Neue"/>
              </a:rPr>
              <a:t>—   </a:t>
            </a:r>
            <a:r>
              <a:rPr sz="1700" b="1" i="0">
                <a:solidFill>
                  <a:srgbClr val="1C2620"/>
                </a:solidFill>
                <a:latin typeface="Helvetica Neue"/>
              </a:rPr>
              <a:t>macro-F1 0.521</a:t>
            </a:r>
            <a:r>
              <a:rPr sz="1700" b="0" i="0">
                <a:solidFill>
                  <a:srgbClr val="1C2620"/>
                </a:solidFill>
                <a:latin typeface="Helvetica Neue"/>
              </a:rPr>
              <a:t>  ·  vs GoEmotions-only </a:t>
            </a:r>
            <a:r>
              <a:rPr sz="1700" b="1" i="0">
                <a:solidFill>
                  <a:srgbClr val="1C2620"/>
                </a:solidFill>
                <a:latin typeface="Helvetica Neue"/>
              </a:rPr>
              <a:t>0.445</a:t>
            </a:r>
            <a:r>
              <a:rPr sz="1700" b="0" i="0">
                <a:solidFill>
                  <a:srgbClr val="1C2620"/>
                </a:solidFill>
                <a:latin typeface="Helvetica Neue"/>
              </a:rPr>
              <a:t>  ·  vs majority-class </a:t>
            </a:r>
            <a:r>
              <a:rPr sz="1700" b="1" i="0">
                <a:solidFill>
                  <a:srgbClr val="1C2620"/>
                </a:solidFill>
                <a:latin typeface="Helvetica Neue"/>
              </a:rPr>
              <a:t>0.106</a:t>
            </a:r>
          </a:p>
          <a:p>
            <a:pPr algn="l">
              <a:spcAft>
                <a:spcPts val="1500"/>
              </a:spcAft>
            </a:pPr>
            <a:r>
              <a:rPr sz="1700" b="0" i="0">
                <a:solidFill>
                  <a:srgbClr val="1C2620"/>
                </a:solidFill>
                <a:latin typeface="Helvetica Neue"/>
              </a:rPr>
              <a:t>—   Macro-F1, not accuracy — the set is 47% neutral, so accuracy would flatter and say nothing</a:t>
            </a:r>
          </a:p>
          <a:p>
            <a:pPr algn="l">
              <a:spcAft>
                <a:spcPts val="1500"/>
              </a:spcAft>
            </a:pPr>
            <a:r>
              <a:rPr sz="1700" b="0" i="0">
                <a:solidFill>
                  <a:srgbClr val="1C2620"/>
                </a:solidFill>
                <a:latin typeface="Helvetica Neue"/>
              </a:rPr>
              <a:t>—   </a:t>
            </a:r>
            <a:r>
              <a:rPr sz="1700" b="1" i="0">
                <a:solidFill>
                  <a:srgbClr val="1C2620"/>
                </a:solidFill>
                <a:latin typeface="Helvetica Neue"/>
              </a:rPr>
              <a:t>The finding we didn't expect to need:</a:t>
            </a:r>
            <a:r>
              <a:rPr sz="1700" b="0" i="0">
                <a:solidFill>
                  <a:srgbClr val="1C2620"/>
                </a:solidFill>
                <a:latin typeface="Helvetica Neue"/>
              </a:rPr>
              <a:t> GoEmotions has </a:t>
            </a:r>
            <a:r>
              <a:rPr sz="1700" b="1" i="0">
                <a:solidFill>
                  <a:srgbClr val="1C2620"/>
                </a:solidFill>
                <a:latin typeface="Helvetica Neue"/>
              </a:rPr>
              <a:t>no loneliness label at all</a:t>
            </a:r>
            <a:r>
              <a:rPr sz="1700" b="0" i="0">
                <a:solidFill>
                  <a:srgbClr val="1C2620"/>
                </a:solidFill>
                <a:latin typeface="Helvetica Neue"/>
              </a:rPr>
              <a:t>. isolation scored </a:t>
            </a:r>
            <a:r>
              <a:rPr sz="1700" b="1" i="0">
                <a:solidFill>
                  <a:srgbClr val="1C2620"/>
                </a:solidFill>
                <a:latin typeface="Helvetica Neue"/>
              </a:rPr>
              <a:t>0.00</a:t>
            </a:r>
            <a:r>
              <a:rPr sz="1700" b="0" i="0">
                <a:solidFill>
                  <a:srgbClr val="1C2620"/>
                </a:solidFill>
                <a:latin typeface="Helvetica Neue"/>
              </a:rPr>
              <a:t> — unpredictable. The supplement took it to </a:t>
            </a:r>
            <a:r>
              <a:rPr sz="1700" b="1" i="0">
                <a:solidFill>
                  <a:srgbClr val="1C2620"/>
                </a:solidFill>
                <a:latin typeface="Helvetica Neue"/>
              </a:rPr>
              <a:t>0.47</a:t>
            </a:r>
          </a:p>
          <a:p>
            <a:pPr algn="l">
              <a:spcAft>
                <a:spcPts val="1500"/>
              </a:spcAft>
            </a:pPr>
            <a:r>
              <a:rPr sz="1700" b="0" i="0">
                <a:solidFill>
                  <a:srgbClr val="1C2620"/>
                </a:solidFill>
                <a:latin typeface="Helvetica Neue"/>
              </a:rPr>
              <a:t>—   </a:t>
            </a:r>
            <a:r>
              <a:rPr sz="1700" b="1" i="0">
                <a:solidFill>
                  <a:srgbClr val="1C2620"/>
                </a:solidFill>
                <a:latin typeface="Helvetica Neue"/>
              </a:rPr>
              <a:t>The finding we did expect:</a:t>
            </a:r>
            <a:r>
              <a:rPr sz="1700" b="0" i="0">
                <a:solidFill>
                  <a:srgbClr val="1C2620"/>
                </a:solidFill>
                <a:latin typeface="Helvetica Neue"/>
              </a:rPr>
              <a:t> overwhelm stays weak at </a:t>
            </a:r>
            <a:r>
              <a:rPr sz="1700" b="1" i="0">
                <a:solidFill>
                  <a:srgbClr val="1C2620"/>
                </a:solidFill>
                <a:latin typeface="Helvetica Neue"/>
              </a:rPr>
              <a:t>0.28</a:t>
            </a:r>
            <a:r>
              <a:rPr sz="1700" b="0" i="0">
                <a:solidFill>
                  <a:srgbClr val="1C2620"/>
                </a:solidFill>
                <a:latin typeface="Helvetica Neue"/>
              </a:rPr>
              <a:t>. We map GoEmotions' *confusion* onto it, and a student with three exams is overwhelmed, not confused. It needs its own labels, not more data</a:t>
            </a:r>
          </a:p>
          <a:p>
            <a:pPr algn="l">
              <a:spcAft>
                <a:spcPts val="1500"/>
              </a:spcAft>
            </a:pPr>
            <a:r>
              <a:rPr sz="1700" b="0" i="0">
                <a:solidFill>
                  <a:srgbClr val="1C2620"/>
                </a:solidFill>
                <a:latin typeface="Helvetica Neue"/>
              </a:rPr>
              <a:t>—   </a:t>
            </a:r>
            <a:r>
              <a:rPr sz="1700" b="1" i="0">
                <a:solidFill>
                  <a:srgbClr val="1C2620"/>
                </a:solidFill>
                <a:latin typeface="Helvetica Neue"/>
              </a:rPr>
              <a:t>In flight for Oct 15</a:t>
            </a:r>
            <a:r>
              <a:rPr sz="1700" b="0" i="0">
                <a:solidFill>
                  <a:srgbClr val="1C2620"/>
                </a:solidFill>
                <a:latin typeface="Helvetica Neue"/>
              </a:rPr>
              <a:t> — distilroberta fine-tune over the same split, and the recall-optimised crisis classifier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TextBox 1"/>
          <p:cNvSpPr txBox="1"/>
          <p:nvPr/>
        </p:nvSpPr>
        <p:spPr>
          <a:xfrm>
            <a:off x="731520" y="457200"/>
            <a:ext cx="10789920" cy="640080"/>
          </a:xfrm>
          <a:prstGeom prst="rect">
            <a:avLst/>
          </a:prstGeom>
          <a:noFill/>
        </p:spPr>
        <p:txBody>
          <a:bodyPr wrap="square" lIns="0" rIns="0" tIns="0" bIns="0">
            <a:spAutoFit/>
          </a:bodyPr>
          <a:lstStyle/>
          <a:p>
            <a:pPr algn="l">
              <a:spcAft>
                <a:spcPts val="800"/>
              </a:spcAft>
            </a:pPr>
            <a:r>
              <a:rPr sz="2800" b="0" i="0">
                <a:solidFill>
                  <a:srgbClr val="1C2620"/>
                </a:solidFill>
                <a:latin typeface="Georgia"/>
              </a:rPr>
              <a:t>The ablation — does the supplement earn its place?</a:t>
            </a:r>
          </a:p>
        </p:txBody>
      </p:sp>
      <p:sp>
        <p:nvSpPr>
          <p:cNvPr id="3" name="Rectangle 2"/>
          <p:cNvSpPr/>
          <p:nvPr/>
        </p:nvSpPr>
        <p:spPr>
          <a:xfrm>
            <a:off x="731520" y="1078992"/>
            <a:ext cx="1188720" cy="32004"/>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5-ablation.png"/>
          <p:cNvPicPr>
            <a:picLocks noChangeAspect="1"/>
          </p:cNvPicPr>
          <p:nvPr/>
        </p:nvPicPr>
        <p:blipFill>
          <a:blip r:embed="rId2"/>
          <a:stretch>
            <a:fillRect/>
          </a:stretch>
        </p:blipFill>
        <p:spPr>
          <a:xfrm>
            <a:off x="3059723" y="1371600"/>
            <a:ext cx="6072249" cy="4754880"/>
          </a:xfrm>
          <a:prstGeom prst="rect">
            <a:avLst/>
          </a:prstGeom>
        </p:spPr>
      </p:pic>
      <p:sp>
        <p:nvSpPr>
          <p:cNvPr id="5" name="TextBox 4"/>
          <p:cNvSpPr txBox="1"/>
          <p:nvPr/>
        </p:nvSpPr>
        <p:spPr>
          <a:xfrm>
            <a:off x="731520" y="6263640"/>
            <a:ext cx="10789920" cy="457200"/>
          </a:xfrm>
          <a:prstGeom prst="rect">
            <a:avLst/>
          </a:prstGeom>
          <a:noFill/>
        </p:spPr>
        <p:txBody>
          <a:bodyPr wrap="square" lIns="0" rIns="0" tIns="0" bIns="0">
            <a:spAutoFit/>
          </a:bodyPr>
          <a:lstStyle/>
          <a:p>
            <a:pPr algn="l">
              <a:spcAft>
                <a:spcPts val="800"/>
              </a:spcAft>
            </a:pPr>
            <a:r>
              <a:rPr sz="1300" b="0" i="1">
                <a:solidFill>
                  <a:srgbClr val="6B7A72"/>
                </a:solidFill>
                <a:latin typeface="Helvetica Neue"/>
              </a:rPr>
              <a:t>Held-out 15% split · macro-F1 · TF-IDF + logistic regression, class-balanced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TextBox 1"/>
          <p:cNvSpPr txBox="1"/>
          <p:nvPr/>
        </p:nvSpPr>
        <p:spPr>
          <a:xfrm>
            <a:off x="731520" y="502920"/>
            <a:ext cx="10789920" cy="731520"/>
          </a:xfrm>
          <a:prstGeom prst="rect">
            <a:avLst/>
          </a:prstGeom>
          <a:noFill/>
        </p:spPr>
        <p:txBody>
          <a:bodyPr wrap="square" lIns="0" rIns="0" tIns="0" bIns="0">
            <a:spAutoFit/>
          </a:bodyPr>
          <a:lstStyle/>
          <a:p>
            <a:pPr algn="l">
              <a:spcAft>
                <a:spcPts val="800"/>
              </a:spcAft>
            </a:pPr>
            <a:r>
              <a:rPr sz="3200" b="0" i="0">
                <a:solidFill>
                  <a:srgbClr val="1C2620"/>
                </a:solidFill>
                <a:latin typeface="Georgia"/>
              </a:rPr>
              <a:t>Live demo — 90 seconds</a:t>
            </a:r>
          </a:p>
        </p:txBody>
      </p:sp>
      <p:sp>
        <p:nvSpPr>
          <p:cNvPr id="3" name="Rectangle 2"/>
          <p:cNvSpPr/>
          <p:nvPr/>
        </p:nvSpPr>
        <p:spPr>
          <a:xfrm>
            <a:off x="731520" y="1207008"/>
            <a:ext cx="1188720" cy="32004"/>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91640"/>
            <a:ext cx="10789920" cy="4572000"/>
          </a:xfrm>
          <a:prstGeom prst="rect">
            <a:avLst/>
          </a:prstGeom>
          <a:noFill/>
        </p:spPr>
        <p:txBody>
          <a:bodyPr wrap="square" lIns="0" rIns="0" tIns="0" bIns="0">
            <a:spAutoFit/>
          </a:bodyPr>
          <a:lstStyle/>
          <a:p>
            <a:pPr algn="l">
              <a:spcAft>
                <a:spcPts val="1500"/>
              </a:spcAft>
            </a:pPr>
            <a:r>
              <a:rPr sz="1700" b="0" i="0">
                <a:solidFill>
                  <a:srgbClr val="1C2620"/>
                </a:solidFill>
                <a:latin typeface="Helvetica Neue"/>
              </a:rPr>
              <a:t>—   POST /analyze — a student message in, distress distribution and crisis risk out</a:t>
            </a:r>
          </a:p>
          <a:p>
            <a:pPr algn="l">
              <a:spcAft>
                <a:spcPts val="1500"/>
              </a:spcAft>
            </a:pPr>
            <a:r>
              <a:rPr sz="1700" b="0" i="0">
                <a:solidFill>
                  <a:srgbClr val="1C2620"/>
                </a:solidFill>
                <a:latin typeface="Helvetica Neue"/>
              </a:rPr>
              <a:t>—   A crisis-flagged message → </a:t>
            </a:r>
            <a:r>
              <a:rPr sz="1700" b="1" i="0">
                <a:solidFill>
                  <a:srgbClr val="1C2620"/>
                </a:solidFill>
                <a:latin typeface="Helvetica Neue"/>
              </a:rPr>
              <a:t>the escalation path fires and the conversation stops</a:t>
            </a:r>
          </a:p>
          <a:p>
            <a:pPr algn="l">
              <a:spcAft>
                <a:spcPts val="1500"/>
              </a:spcAft>
            </a:pPr>
            <a:r>
              <a:rPr sz="1700" b="0" i="0">
                <a:solidFill>
                  <a:srgbClr val="1C2620"/>
                </a:solidFill>
                <a:latin typeface="Helvetica Neue"/>
              </a:rPr>
              <a:t>—   The safety ordering, live: Privacy → Crisis → everything else. </a:t>
            </a:r>
            <a:r>
              <a:rPr sz="1700" b="1" i="0">
                <a:solidFill>
                  <a:srgbClr val="1C2620"/>
                </a:solidFill>
                <a:latin typeface="Helvetica Neue"/>
              </a:rPr>
              <a:t>No therapy content is generated for a turn that trips the rail</a:t>
            </a:r>
          </a:p>
          <a:p>
            <a:pPr algn="l">
              <a:spcAft>
                <a:spcPts val="1500"/>
              </a:spcAft>
            </a:pPr>
            <a:r>
              <a:rPr sz="1700" b="0" i="0">
                <a:solidFill>
                  <a:srgbClr val="1C2620"/>
                </a:solidFill>
                <a:latin typeface="Helvetica Neue"/>
              </a:rPr>
              <a:t>—   From FastAPI's /docs page — </a:t>
            </a:r>
            <a:r>
              <a:rPr sz="1700" b="1" i="0">
                <a:solidFill>
                  <a:srgbClr val="1C2620"/>
                </a:solidFill>
                <a:latin typeface="Helvetica Neue"/>
              </a:rPr>
              <a:t>no front end, by design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TextBox 1"/>
          <p:cNvSpPr txBox="1"/>
          <p:nvPr/>
        </p:nvSpPr>
        <p:spPr>
          <a:xfrm>
            <a:off x="731520" y="502920"/>
            <a:ext cx="10789920" cy="731520"/>
          </a:xfrm>
          <a:prstGeom prst="rect">
            <a:avLst/>
          </a:prstGeom>
          <a:noFill/>
        </p:spPr>
        <p:txBody>
          <a:bodyPr wrap="square" lIns="0" rIns="0" tIns="0" bIns="0">
            <a:spAutoFit/>
          </a:bodyPr>
          <a:lstStyle/>
          <a:p>
            <a:pPr algn="l">
              <a:spcAft>
                <a:spcPts val="800"/>
              </a:spcAft>
            </a:pPr>
            <a:r>
              <a:rPr sz="3200" b="0" i="0">
                <a:solidFill>
                  <a:srgbClr val="1C2620"/>
                </a:solidFill>
                <a:latin typeface="Georgia"/>
              </a:rPr>
              <a:t>Next two weeks</a:t>
            </a:r>
          </a:p>
        </p:txBody>
      </p:sp>
      <p:sp>
        <p:nvSpPr>
          <p:cNvPr id="3" name="Rectangle 2"/>
          <p:cNvSpPr/>
          <p:nvPr/>
        </p:nvSpPr>
        <p:spPr>
          <a:xfrm>
            <a:off x="731520" y="1207008"/>
            <a:ext cx="1188720" cy="32004"/>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91640"/>
            <a:ext cx="10789920" cy="4572000"/>
          </a:xfrm>
          <a:prstGeom prst="rect">
            <a:avLst/>
          </a:prstGeom>
          <a:noFill/>
        </p:spPr>
        <p:txBody>
          <a:bodyPr wrap="square" lIns="0" rIns="0" tIns="0" bIns="0">
            <a:spAutoFit/>
          </a:bodyPr>
          <a:lstStyle/>
          <a:p>
            <a:pPr algn="l">
              <a:spcAft>
                <a:spcPts val="1500"/>
              </a:spcAft>
            </a:pPr>
            <a:r>
              <a:rPr sz="1700" b="0" i="0">
                <a:solidFill>
                  <a:srgbClr val="1C2620"/>
                </a:solidFill>
                <a:latin typeface="Helvetica Neue"/>
              </a:rPr>
              <a:t>—   </a:t>
            </a:r>
            <a:r>
              <a:rPr sz="1700" b="1" i="0">
                <a:solidFill>
                  <a:srgbClr val="1C2620"/>
                </a:solidFill>
                <a:latin typeface="Helvetica Neue"/>
              </a:rPr>
              <a:t>Oct 22</a:t>
            </a:r>
            <a:r>
              <a:rPr sz="1700" b="0" i="0">
                <a:solidFill>
                  <a:srgbClr val="1C2620"/>
                </a:solidFill>
                <a:latin typeface="Helvetica Neue"/>
              </a:rPr>
              <a:t> — Conversation Agent on the written ACT/CBT protocol</a:t>
            </a:r>
          </a:p>
          <a:p>
            <a:pPr algn="l">
              <a:spcAft>
                <a:spcPts val="1500"/>
              </a:spcAft>
            </a:pPr>
            <a:r>
              <a:rPr sz="1700" b="0" i="0">
                <a:solidFill>
                  <a:srgbClr val="1C2620"/>
                </a:solidFill>
                <a:latin typeface="Helvetica Neue"/>
              </a:rPr>
              <a:t>—   </a:t>
            </a:r>
            <a:r>
              <a:rPr sz="1700" b="1" i="0">
                <a:solidFill>
                  <a:srgbClr val="1C2620"/>
                </a:solidFill>
                <a:latin typeface="Helvetica Neue"/>
              </a:rPr>
              <a:t>Oct 27</a:t>
            </a:r>
            <a:r>
              <a:rPr sz="1700" b="0" i="0">
                <a:solidFill>
                  <a:srgbClr val="1C2620"/>
                </a:solidFill>
                <a:latin typeface="Helvetica Neue"/>
              </a:rPr>
              <a:t> — Fidelity Monitor: every reply scored against the six ACT processes, drift rejected and regenerated</a:t>
            </a:r>
          </a:p>
          <a:p>
            <a:pPr algn="l">
              <a:spcAft>
                <a:spcPts val="1500"/>
              </a:spcAft>
            </a:pPr>
            <a:r>
              <a:rPr sz="1700" b="0" i="0">
                <a:solidFill>
                  <a:srgbClr val="1C2620"/>
                </a:solidFill>
                <a:latin typeface="Helvetica Neue"/>
              </a:rPr>
              <a:t>—   </a:t>
            </a:r>
            <a:r>
              <a:rPr sz="1700" b="1" i="0">
                <a:solidFill>
                  <a:srgbClr val="1C2620"/>
                </a:solidFill>
                <a:latin typeface="Helvetica Neue"/>
              </a:rPr>
              <a:t>Nov 3</a:t>
            </a:r>
            <a:r>
              <a:rPr sz="1700" b="0" i="0">
                <a:solidFill>
                  <a:srgbClr val="1C2620"/>
                </a:solidFill>
                <a:latin typeface="Helvetica Neue"/>
              </a:rPr>
              <a:t> — Experiment E1: 400 turns, monitor off vs on, 120 hand-audited → the drift rate</a:t>
            </a:r>
          </a:p>
          <a:p>
            <a:pPr algn="l">
              <a:spcAft>
                <a:spcPts val="1500"/>
              </a:spcAft>
            </a:pPr>
            <a:r>
              <a:rPr sz="1700" b="0" i="0">
                <a:solidFill>
                  <a:srgbClr val="1C2620"/>
                </a:solidFill>
                <a:latin typeface="Helvetica Neue"/>
              </a:rPr>
              <a:t>—   Target for Nov 5: fidelity numbers, and the Tier-2 specialists routed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