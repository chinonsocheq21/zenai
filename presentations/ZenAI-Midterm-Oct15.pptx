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seconds. Say the one line: 'ZenAI is an AI counselor that stays inside the protocol — and when it can't, it stops.'</a:t>
            </a:r>
          </a:p>
          <a:p/>
          <a:p>
            <a:r>
              <a:t>BEFORE CLASS: add a one-line 'who did what' under the names. The course grades individually ('present in team, grade individually'). Only list what each person actually did.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FILM. 62 seconds. Click the video in PowerPoint, or open zenai-screens.unv.run/film as the backup.</a:t>
            </a:r>
          </a:p>
          <a:p/>
          <a:p>
            <a:r>
              <a:t>Say before it plays: 'This is an animated explainer of the design — what ZenAI does on one turn.'</a:t>
            </a:r>
          </a:p>
          <a:p/>
          <a:p>
            <a:r>
              <a:t>Say that sentence. It is a concept film, not a screen recording of running software: the Fidelity Monitor in it is designed and is being built Oct 16–27, and the scoring grid near the end is marked ILLUSTRATION. Framing it honestly costs nothing and protects you if someone asks 'is that running?'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The problem in one sentence: the failure mode of an AI counselor isn't being rude — it's being helpful in exactly the wrong way.</a:t>
            </a:r>
          </a:p>
          <a:p/>
          <a:p>
            <a:r>
              <a:t>The example on screen: a student says they keep opening their notes and closing them. The 'typical AI counselor' reassures ('you'll do great!'), gives advice ('make a study schedule'), and diagnoses ('sounds like test anxiety'). All three shut down the student's own processing.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seconds. This is the reframing, and it comes straight from Dr. Wang's own assignment page.</a:t>
            </a:r>
          </a:p>
          <a:p/>
          <a:p>
            <a:r>
              <a:t>The Project 5 references are: Vertex AI, Agent Builder, Gemini Enterprise Agents, StatPearls 'Cognitive Behavior Therapy' (NCBI NBK470241), and Cleveland Clinic on Acceptance and Commitment Therapy. Two of five are manualised therapy protocols. So we built to a protocol.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This is the contribution, and the screenshot is the real console, not the film.</a:t>
            </a:r>
          </a:p>
          <a:p/>
          <a:p>
            <a:r>
              <a:t>The film's drifting reply — 'You've got this! Try breaking your notes into 25-minute blocks.' — is rejected for BOTH moves, and the detector points at the exact sentence carrying each one: 'You've got this!' is reassurance, 'Try breaking…' is advice. The film's in-protocol reply passes.</a:t>
            </a:r>
          </a:p>
          <a:p/>
          <a:p>
            <a:r>
              <a:t>Be straight about what's next: the drift-detection half is trained; scoring against the six ACT processes needs the written protocol, and diagnosis needs labelled examples — there is no public dataset for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Lead with this before anyone asks the ethics question — because someone will.</a:t>
            </a:r>
          </a:p>
          <a:p/>
          <a:p>
            <a:r>
              <a:t>ZenAI is not a counselor and never claims to be. It is a support tool that escalates. The ordering is in the code, not a policy: /analyze runs privacy redaction, then the crisis check, and returns the escalation WITHOUT ever calling the distress model or generating a reply.</a:t>
            </a:r>
          </a:p>
          <a:p/>
          <a:p>
            <a:r>
              <a:t>The hand-off shows the Counseling Center at 443-885-3130 (weekdays 8:30–5) and Morgan's 24/7 crisis line, 1-800-422-0009 — both read off morgan.edu on Oct 15. The 24/7 line matters: the scenario is 2 a.m., when the office is closed.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 Read it left to right — it is the life of one message.</a:t>
            </a:r>
          </a:p>
          <a:p/>
          <a:p>
            <a:r>
              <a:t>1. TIER 0, every turn: Privacy redacts, Crisis &amp; Safety checks risk. Risk → escalate to 988 and campus counseling, and the conversation stops. BOTH ARE BUILT.</a:t>
            </a:r>
          </a:p>
          <a:p>
            <a:r>
              <a:t>2. TIER 1, the core loop: Orchestrator → Mood Check-In → Memory → Conversation → Fidelity Monitor. Mood Check-In is BUILT — it is the trained classifier on the next slides.</a:t>
            </a:r>
          </a:p>
          <a:p>
            <a:r>
              <a:t>3. Point at the gold box. A draft that drifts into advice, reassurance or diagnosis is sent back to be rewritten; the student never sees it. That is the contribution, and it is Oct 16–27.</a:t>
            </a:r>
          </a:p>
          <a:p>
            <a:r>
              <a:t>4. TIER 2 specialists are routed to when needed. TIER 3 tracks weeks, and the schema that logs every turn is built.</a:t>
            </a:r>
          </a:p>
          <a:p/>
          <a:p>
            <a:r>
              <a:t>The tags are honest on purpose: built means it runs in the repo today. The diagram filling in from grey to green across the three reports IS the progress 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 ONLY IF THE PERSON WHO BUILT THIS IS PRESENTING IT. If they aren't in the room or can't speak to it, delete this slide before class: the rest of the deck stands on its own.</a:t>
            </a:r>
          </a:p>
          <a:p/>
          <a:p>
            <a:r>
              <a:t>Don't describe what these agents do beyond the descriptions on screen — nobody else on the team has seen them run.</a:t>
            </a:r>
          </a:p>
          <a:p/>
          <a:p>
            <a:r>
              <a:t>The honest framing: our pipeline is the core; this is a candidate engine for the one stage that needs a language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seconds. This is the 10-point half of the rubric. Everything from here is measured.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The most interesting finding on the deck, so lead with it.</a:t>
            </a:r>
          </a:p>
          <a:p/>
          <a:p>
            <a:r>
              <a:t>We mapped GoEmotions' 28 emotion labels onto 6 distress classes. Two had no clean source. isolation had NOTHING mapping to it — there is no loneliness label in GoEmotions — so it could not be predicted at all: F1 0.00.</a:t>
            </a:r>
          </a:p>
          <a:p/>
          <a:p>
            <a:r>
              <a:t>EmpatheticDialogues carries situation labels like 'lonely' and 'anxious'. Adding it created a class that did not previously exist: F1 0.47.</a:t>
            </a:r>
          </a:p>
          <a:p/>
          <a:p>
            <a:r>
              <a:t>All numbers: results/ in the repo, held-out 15% split.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seconds. The ablation.</a:t>
            </a:r>
          </a:p>
          <a:p/>
          <a:p>
            <a:r>
              <a:t>Majority class 0.106 → GoEmotions only 0.445 → with the supplement 0.521.</a:t>
            </a:r>
          </a:p>
          <a:p/>
          <a:p>
            <a:r>
              <a:t>Why macro-F1 and not accuracy: the set is 47% neutral, so accuracy would flatter and say nothing.</a:t>
            </a:r>
          </a:p>
          <a:p/>
          <a:p>
            <a:r>
              <a:t>The honest part, and say it: overwhelm stays weak at 0.28. We predicted that — we map GoEmotions' 'confusion' onto it, and a student with three exams is overwhelmed, not confused. It needs its own hand-labels, not more data. That is in the next two weeks.</a:t>
            </a:r>
          </a:p>
          <a:p/>
          <a:p>
            <a:r>
              <a:t>If asked about a transformer: distilroberta is set up and runs, and this 0.521 is the number it has to beat.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The second trained model — and the first half of the contribution.</a:t>
            </a:r>
          </a:p>
          <a:p/>
          <a:p>
            <a:r>
              <a:t>ESConv labels every supporter reply with its strategy. Two of them are exactly our prohibited moves: 'Providing Suggestions' is advice-giving, 'Affirmation and Reassurance' is reassurance.</a:t>
            </a:r>
          </a:p>
          <a:p/>
          <a:p>
            <a:r>
              <a:t>The methodological point worth making: we split by CONVERSATION. Split by individual reply and turns from the same conversation land in both training and test — that would have scored 0.612 instead of 0.590. We report the honest one.</a:t>
            </a:r>
          </a:p>
          <a:p/>
          <a:p>
            <a:r>
              <a:t>Thresholds lean toward recall: a false flag costs one rewrite, a miss puts drift in front of a student.</a:t>
            </a:r>
          </a:p>
          <a:p/>
          <a:p>
            <a:r>
              <a:t>The weak number, said plainly: reassurance precision is 0.34, because ESConv lumps healthy validation ('that sounds hard') in with false reassurance ('you'll be fine'). A reflection still passes — the threshold was chosen so it would.</a:t>
            </a:r>
          </a:p>
          <a:p/>
          <a:p>
            <a:r>
              <a:t>Source: results/drift_detector.json.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seconds. This slide is where you earn credibility.</a:t>
            </a:r>
          </a:p>
          <a:p/>
          <a:p>
            <a:r>
              <a:t>The judgment: an unnecessary escalation costs a student one awkward message; a missed one costs something we are not willing to risk. So we pick the loosest threshold whose false-alarm rate is tolerable, and say what we paid.</a:t>
            </a:r>
          </a:p>
          <a:p/>
          <a:p>
            <a:r>
              <a:t>The bug story is worth telling: our first detector looked like it worked. The harness showed it missed 'hurting myself' because it only knew 'hurt myself'. A detector that misses an obvious rewording looks like it is working when it is not.</a:t>
            </a:r>
          </a:p>
          <a:p/>
          <a:p>
            <a:r>
              <a:t>Do NOT quote a crisis recall number. We do not have a legitimate labelled set, and saying so plainly is the stronger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The rubric says 'show your development environment' — this is points.</a:t>
            </a:r>
          </a:p>
          <a:p/>
          <a:p>
            <a:r>
              <a:t>The point to make: a stranger can clone this and reproduce every number on the previous slides with one command. setup.sh fetches the data, builds the environment and pins the two dependencies that otherwise fail silently.</a:t>
            </a:r>
          </a:p>
          <a:p/>
          <a:p>
            <a:r>
              <a:t>Code must be pushed BEFORE class — the rubric: 'All coding related should be uploaded to github.'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seconds, rehearsed three times.</a:t>
            </a:r>
          </a:p>
          <a:p/>
          <a:p>
            <a:r>
              <a:t>START IT BEFORE CLASS (from the repo folder):</a:t>
            </a:r>
          </a:p>
          <a:p>
            <a:r>
              <a:t>  PYTHONPATH=src .venv/bin/uvicorn zenai.api.main:app --port 8000</a:t>
            </a:r>
          </a:p>
          <a:p>
            <a:r>
              <a:t>Open http://127.0.0.1:8000 — the console loads. The model loads at startup, so the first message is instant.</a:t>
            </a:r>
          </a:p>
          <a:p/>
          <a:p>
            <a:r>
              <a:t>Run in this order:</a:t>
            </a:r>
          </a:p>
          <a:p>
            <a:r>
              <a:t>1. 'Exams, no sleep' → anxiety. Point at the seven stages lighting up: three green, four gold. 'Gold is designed and scheduled — we show it so nothing looks finished that isn't.'</a:t>
            </a:r>
          </a:p>
          <a:p>
            <a:r>
              <a:t>2. 'Lonely' → isolation 96%. 'This is the class the standard dataset could not predict at all — slide 9.'</a:t>
            </a:r>
          </a:p>
          <a:p>
            <a:r>
              <a:t>3. 'Redaction' → the email, phone and student ID are replaced before anything reads them.</a:t>
            </a:r>
          </a:p>
          <a:p>
            <a:r>
              <a:t>4. Switch to the FIDELITY MONITOR tab → 'Film: drifting reply' → rejected for advice + reassurance, each sentence marked. Then 'Film: stays in protocol' → passes. 'This is the scene from the film, running for real.'</a:t>
            </a:r>
          </a:p>
          <a:p>
            <a:r>
              <a:t>5. Back to Turn trace → 'Crisis (synthetic)' — SAY IT IS A SYNTHETIC EXAMPLE — → the rail trips at 0.99, every later stage is skipped, the text box disappears, and it hands off to 988 and the counseling center.</a:t>
            </a:r>
          </a:p>
          <a:p/>
          <a:p>
            <a:r>
              <a:t>The header should read 'campus line: set'. The crisis screen shows the Counseling Center (443-885-3130, weekdays) and Morgan's 24/7 line (1-800-422-0009) — both verified on morgan.edu on Oct 15.</a:t>
            </a:r>
          </a:p>
          <a:p/>
          <a:p>
            <a:r>
              <a:t>If asked why ZenAI doesn't reply here: the Conversation Agent lives in Google Cloud Agent Builder (previous slides); connecting it so its drafts pass through this pipeline and the Fidelity Monitor is the next two weeks.</a:t>
            </a:r>
          </a:p>
          <a:p/>
          <a:p>
            <a:r>
              <a:t>Backup: the raw API is at /docs, and the film at zenai-screens.unv.run/film shows the same flow.</a:t>
            </a:r>
          </a:p>
          <a:p/>
          <a:p>
            <a:r>
              <a:t>NEW SINCE THIS MORNING — OPTIONAL: ZenAI now writes replies (Grok), and every reply passes the Fidelity Monitor before it is shown. Type a message in the console and it answers; any rejected drafts appear struck through under the reply. Only use it if the wifi is solid — a reply takes 3–5 s, up to ~17 s when drafts get rejected. If you show it, say the honest part too: in a 40-message pilot run today, most rejections were the monitor being too strict, and fixing that is the next two weeks.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Worth 5 points on its own: 'your goals for the next two weeks.' Dated commitments, not intentions.</a:t>
            </a:r>
          </a:p>
          <a:p/>
          <a:p>
            <a:r>
              <a:t>Confirm these dates with the team before class — say who owns each.</a:t>
            </a:r>
          </a:p>
          <a:p/>
          <a:p>
            <a:r>
              <a:t>Then stop and take questions. Leave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this line and stop talking. Then: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ounded Rectangle 1"/>
          <p:cNvSpPr/>
          <p:nvPr/>
        </p:nvSpPr>
        <p:spPr>
          <a:xfrm>
            <a:off x="3703320" y="2487168"/>
            <a:ext cx="1051560" cy="1051560"/>
          </a:xfrm>
          <a:prstGeom prst="round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5000" b="0" i="0">
                <a:solidFill>
                  <a:srgbClr val="FFFFFF"/>
                </a:solidFill>
                <a:latin typeface="Georgia"/>
              </a:rPr>
              <a:t>Z</a:t>
            </a:r>
          </a:p>
        </p:txBody>
      </p:sp>
      <p:sp>
        <p:nvSpPr>
          <p:cNvPr id="3" name="TextBox 2"/>
          <p:cNvSpPr txBox="1"/>
          <p:nvPr/>
        </p:nvSpPr>
        <p:spPr>
          <a:xfrm>
            <a:off x="4983480" y="2267712"/>
            <a:ext cx="5029200" cy="1463040"/>
          </a:xfrm>
          <a:prstGeom prst="rect">
            <a:avLst/>
          </a:prstGeom>
          <a:noFill/>
        </p:spPr>
        <p:txBody>
          <a:bodyPr wrap="square" anchor="ctr" lIns="0" rIns="0" tIns="0" bIns="0">
            <a:spAutoFit/>
          </a:bodyPr>
          <a:lstStyle/>
          <a:p>
            <a:pPr algn="l">
              <a:lnSpc>
                <a:spcPct val="108000"/>
              </a:lnSpc>
            </a:pPr>
            <a:r>
              <a:rPr sz="9600" b="0" i="0">
                <a:solidFill>
                  <a:srgbClr val="1C2620"/>
                </a:solidFill>
                <a:latin typeface="Georgia"/>
              </a:rPr>
              <a:t>ZenAI</a:t>
            </a:r>
          </a:p>
        </p:txBody>
      </p:sp>
      <p:sp>
        <p:nvSpPr>
          <p:cNvPr id="4" name="TextBox 3"/>
          <p:cNvSpPr txBox="1"/>
          <p:nvPr/>
        </p:nvSpPr>
        <p:spPr>
          <a:xfrm>
            <a:off x="1371600" y="3977639"/>
            <a:ext cx="9445752" cy="640080"/>
          </a:xfrm>
          <a:prstGeom prst="rect">
            <a:avLst/>
          </a:prstGeom>
          <a:noFill/>
        </p:spPr>
        <p:txBody>
          <a:bodyPr wrap="square" anchor="t" lIns="0" rIns="0" tIns="0" bIns="0">
            <a:spAutoFit/>
          </a:bodyPr>
          <a:lstStyle/>
          <a:p>
            <a:pPr algn="ctr">
              <a:lnSpc>
                <a:spcPct val="108000"/>
              </a:lnSpc>
            </a:pPr>
            <a:r>
              <a:rPr sz="2400" b="0" i="0">
                <a:solidFill>
                  <a:srgbClr val="2F6F5E"/>
                </a:solidFill>
                <a:latin typeface="Helvetica Neue"/>
              </a:rPr>
              <a:t>An AI counselor that stays inside the protocol</a:t>
            </a:r>
          </a:p>
        </p:txBody>
      </p:sp>
      <p:sp>
        <p:nvSpPr>
          <p:cNvPr id="5" name="TextBox 4"/>
          <p:cNvSpPr txBox="1"/>
          <p:nvPr/>
        </p:nvSpPr>
        <p:spPr>
          <a:xfrm>
            <a:off x="975335" y="548640"/>
            <a:ext cx="10241023" cy="411480"/>
          </a:xfrm>
          <a:prstGeom prst="rect">
            <a:avLst/>
          </a:prstGeom>
          <a:noFill/>
        </p:spPr>
        <p:txBody>
          <a:bodyPr wrap="square" anchor="t" lIns="0" rIns="0" tIns="0" bIns="0">
            <a:spAutoFit/>
          </a:bodyPr>
          <a:lstStyle/>
          <a:p>
            <a:pPr algn="ctr">
              <a:lnSpc>
                <a:spcPct val="108000"/>
              </a:lnSpc>
            </a:pPr>
            <a:r>
              <a:rPr sz="1300" b="0" i="0">
                <a:solidFill>
                  <a:srgbClr val="6B7A72"/>
                </a:solidFill>
                <a:latin typeface="Helvetica Neue"/>
              </a:rPr>
              <a:t>COSC 490 · PROJECT 5 · GROUP 3 · MIDTERM PROGRESS REPORT · OCTOBER 15, 2026</a:t>
            </a:r>
          </a:p>
        </p:txBody>
      </p:sp>
      <p:sp>
        <p:nvSpPr>
          <p:cNvPr id="6" name="TextBox 5"/>
          <p:cNvSpPr txBox="1"/>
          <p:nvPr/>
        </p:nvSpPr>
        <p:spPr>
          <a:xfrm>
            <a:off x="975335" y="5760720"/>
            <a:ext cx="10241023" cy="480060"/>
          </a:xfrm>
          <a:prstGeom prst="rect">
            <a:avLst/>
          </a:prstGeom>
          <a:noFill/>
        </p:spPr>
        <p:txBody>
          <a:bodyPr wrap="square" anchor="t" lIns="0" rIns="0" tIns="0" bIns="0">
            <a:spAutoFit/>
          </a:bodyPr>
          <a:lstStyle/>
          <a:p>
            <a:pPr algn="ctr">
              <a:lnSpc>
                <a:spcPct val="108000"/>
              </a:lnSpc>
            </a:pPr>
            <a:r>
              <a:rPr sz="1500" b="1" i="0">
                <a:solidFill>
                  <a:srgbClr val="2F6F5E"/>
                </a:solidFill>
                <a:latin typeface="Helvetica Neue"/>
              </a:rPr>
              <a:t>Abraham Irabor  ·  Fnu Soh Tah Fon  ·  Chinonso Egeolu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502920"/>
            <a:ext cx="10789920" cy="822960"/>
          </a:xfrm>
          <a:prstGeom prst="rect">
            <a:avLst/>
          </a:prstGeom>
          <a:noFill/>
        </p:spPr>
        <p:txBody>
          <a:bodyPr wrap="square" anchor="t" lIns="0" rIns="0" tIns="0" bIns="0">
            <a:spAutoFit/>
          </a:bodyPr>
          <a:lstStyle/>
          <a:p>
            <a:pPr algn="l">
              <a:lnSpc>
                <a:spcPct val="108000"/>
              </a:lnSpc>
            </a:pPr>
            <a:r>
              <a:rPr sz="3000" b="1" i="0">
                <a:solidFill>
                  <a:srgbClr val="1C2620"/>
                </a:solidFill>
                <a:latin typeface="Helvetica Neue"/>
              </a:rPr>
              <a:t>The concept, in 60 seconds</a:t>
            </a:r>
          </a:p>
        </p:txBody>
      </p:sp>
      <p:sp>
        <p:nvSpPr>
          <p:cNvPr id="3" name="Rectangle 2"/>
          <p:cNvSpPr/>
          <p:nvPr/>
        </p:nvSpPr>
        <p:spPr>
          <a:xfrm>
            <a:off x="685800" y="1307592"/>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026767" y="1508760"/>
            <a:ext cx="8138160" cy="4617720"/>
          </a:xfrm>
          <a:prstGeom prst="rect">
            <a:avLst/>
          </a:prstGeom>
          <a:solidFill>
            <a:srgbClr val="FFFFFF"/>
          </a:solidFill>
          <a:ln w="952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zenai-film.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072487" y="1554480"/>
            <a:ext cx="8046720" cy="4526280"/>
          </a:xfrm>
          <a:prstGeom prst="rect">
            <a:avLst/>
          </a:prstGeom>
        </p:spPr>
      </p:pic>
      <p:sp>
        <p:nvSpPr>
          <p:cNvPr id="6" name="TextBox 5"/>
          <p:cNvSpPr txBox="1"/>
          <p:nvPr/>
        </p:nvSpPr>
        <p:spPr>
          <a:xfrm>
            <a:off x="685800" y="6208776"/>
            <a:ext cx="10789920" cy="274320"/>
          </a:xfrm>
          <a:prstGeom prst="rect">
            <a:avLst/>
          </a:prstGeom>
          <a:noFill/>
        </p:spPr>
        <p:txBody>
          <a:bodyPr wrap="square" anchor="t" lIns="0" rIns="0" tIns="0" bIns="0">
            <a:spAutoFit/>
          </a:bodyPr>
          <a:lstStyle/>
          <a:p>
            <a:pPr algn="ctr">
              <a:lnSpc>
                <a:spcPct val="108000"/>
              </a:lnSpc>
            </a:pPr>
            <a:r>
              <a:rPr sz="1250" b="0" i="0">
                <a:solidFill>
                  <a:srgbClr val="6B7A72"/>
                </a:solidFill>
                <a:latin typeface="Helvetica Neue"/>
              </a:rPr>
              <a:t>▶  Click to play  ·  62 seconds  ·  backup: zenai-screens.unv.run/film</a:t>
            </a:r>
          </a:p>
        </p:txBody>
      </p:sp>
      <p:sp>
        <p:nvSpPr>
          <p:cNvPr id="7" name="TextBox 6"/>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8" name="TextBox 7"/>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2 / 17</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502920"/>
            <a:ext cx="10789920" cy="822960"/>
          </a:xfrm>
          <a:prstGeom prst="rect">
            <a:avLst/>
          </a:prstGeom>
          <a:noFill/>
        </p:spPr>
        <p:txBody>
          <a:bodyPr wrap="square" anchor="t" lIns="0" rIns="0" tIns="0" bIns="0">
            <a:spAutoFit/>
          </a:bodyPr>
          <a:lstStyle/>
          <a:p>
            <a:pPr algn="l">
              <a:lnSpc>
                <a:spcPct val="108000"/>
              </a:lnSpc>
            </a:pPr>
            <a:r>
              <a:rPr sz="3000" b="1" i="0">
                <a:solidFill>
                  <a:srgbClr val="1C2620"/>
                </a:solidFill>
                <a:latin typeface="Helvetica Neue"/>
              </a:rPr>
              <a:t>Under pressure, AI counselors drift</a:t>
            </a:r>
          </a:p>
        </p:txBody>
      </p:sp>
      <p:sp>
        <p:nvSpPr>
          <p:cNvPr id="3" name="Rectangle 2"/>
          <p:cNvSpPr/>
          <p:nvPr/>
        </p:nvSpPr>
        <p:spPr>
          <a:xfrm>
            <a:off x="685800" y="1307592"/>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91640"/>
            <a:ext cx="5120640" cy="4480560"/>
          </a:xfrm>
          <a:prstGeom prst="rect">
            <a:avLst/>
          </a:prstGeom>
          <a:noFill/>
        </p:spPr>
        <p:txBody>
          <a:bodyPr wrap="square" anchor="t" lIns="0" rIns="0" tIns="0" bIns="0">
            <a:spAutoFit/>
          </a:bodyPr>
          <a:lstStyle/>
          <a:p>
            <a:pPr>
              <a:lnSpc>
                <a:spcPct val="110000"/>
              </a:lnSpc>
              <a:spcAft>
                <a:spcPts val="1387"/>
              </a:spcAft>
            </a:pPr>
            <a:r>
              <a:rPr sz="1017">
                <a:solidFill>
                  <a:srgbClr val="2F6F5E"/>
                </a:solidFill>
                <a:latin typeface="Helvetica Neue"/>
              </a:rPr>
              <a:t>●  </a:t>
            </a:r>
            <a:r>
              <a:rPr sz="1850" b="0" i="0">
                <a:solidFill>
                  <a:srgbClr val="1C2620"/>
                </a:solidFill>
                <a:latin typeface="Helvetica Neue"/>
              </a:rPr>
              <a:t>They </a:t>
            </a:r>
            <a:r>
              <a:rPr sz="1850" b="1" i="0">
                <a:solidFill>
                  <a:srgbClr val="1C2620"/>
                </a:solidFill>
                <a:latin typeface="Helvetica Neue"/>
              </a:rPr>
              <a:t>give advice</a:t>
            </a:r>
            <a:r>
              <a:rPr sz="1850" b="0" i="0">
                <a:solidFill>
                  <a:srgbClr val="1C2620"/>
                </a:solidFill>
                <a:latin typeface="Helvetica Neue"/>
              </a:rPr>
              <a:t>, they </a:t>
            </a:r>
            <a:r>
              <a:rPr sz="1850" b="1" i="0">
                <a:solidFill>
                  <a:srgbClr val="1C2620"/>
                </a:solidFill>
                <a:latin typeface="Helvetica Neue"/>
              </a:rPr>
              <a:t>reassure</a:t>
            </a:r>
            <a:r>
              <a:rPr sz="1850" b="0" i="0">
                <a:solidFill>
                  <a:srgbClr val="1C2620"/>
                </a:solidFill>
                <a:latin typeface="Helvetica Neue"/>
              </a:rPr>
              <a:t>, they </a:t>
            </a:r>
            <a:r>
              <a:rPr sz="1850" b="1" i="0">
                <a:solidFill>
                  <a:srgbClr val="1C2620"/>
                </a:solidFill>
                <a:latin typeface="Helvetica Neue"/>
              </a:rPr>
              <a:t>quietly diagnose</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The three moves a trained counselor is taught never to make</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Woebot, Wysa, Youper, Replika and Ash handle it the same way: </a:t>
            </a:r>
            <a:r>
              <a:rPr sz="1850" b="1" i="0">
                <a:solidFill>
                  <a:srgbClr val="1C2620"/>
                </a:solidFill>
                <a:latin typeface="Helvetica Neue"/>
              </a:rPr>
              <a:t>a prompt, and hope</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None of them publishes a drift rate. None publishes a crisis-detection recall.</a:t>
            </a:r>
          </a:p>
        </p:txBody>
      </p:sp>
      <p:sp>
        <p:nvSpPr>
          <p:cNvPr id="5" name="Rectangle 4"/>
          <p:cNvSpPr/>
          <p:nvPr/>
        </p:nvSpPr>
        <p:spPr>
          <a:xfrm>
            <a:off x="6044184" y="2020061"/>
            <a:ext cx="5513832" cy="3732276"/>
          </a:xfrm>
          <a:prstGeom prst="rect">
            <a:avLst/>
          </a:prstGeom>
          <a:solidFill>
            <a:srgbClr val="FFFFFF"/>
          </a:solidFill>
          <a:ln w="952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ill-drift-crop.png"/>
          <p:cNvPicPr>
            <a:picLocks noChangeAspect="1"/>
          </p:cNvPicPr>
          <p:nvPr/>
        </p:nvPicPr>
        <p:blipFill>
          <a:blip r:embed="rId2"/>
          <a:stretch>
            <a:fillRect/>
          </a:stretch>
        </p:blipFill>
        <p:spPr>
          <a:xfrm>
            <a:off x="6080760" y="2056637"/>
            <a:ext cx="5440680" cy="3659124"/>
          </a:xfrm>
          <a:prstGeom prst="rect">
            <a:avLst/>
          </a:prstGeom>
        </p:spPr>
      </p:pic>
      <p:sp>
        <p:nvSpPr>
          <p:cNvPr id="7" name="TextBox 6"/>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8" name="TextBox 7"/>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22960" y="1234440"/>
            <a:ext cx="1097280" cy="1097280"/>
          </a:xfrm>
          <a:prstGeom prst="rect">
            <a:avLst/>
          </a:prstGeom>
          <a:noFill/>
        </p:spPr>
        <p:txBody>
          <a:bodyPr wrap="square" anchor="t" lIns="0" rIns="0" tIns="0" bIns="0">
            <a:spAutoFit/>
          </a:bodyPr>
          <a:lstStyle/>
          <a:p>
            <a:pPr algn="l">
              <a:lnSpc>
                <a:spcPct val="108000"/>
              </a:lnSpc>
            </a:pPr>
            <a:r>
              <a:rPr sz="12000" b="0" i="0">
                <a:solidFill>
                  <a:srgbClr val="2F6F5E"/>
                </a:solidFill>
                <a:latin typeface="Georgia"/>
              </a:rPr>
              <a:t>“</a:t>
            </a:r>
          </a:p>
        </p:txBody>
      </p:sp>
      <p:sp>
        <p:nvSpPr>
          <p:cNvPr id="3" name="TextBox 2"/>
          <p:cNvSpPr txBox="1"/>
          <p:nvPr/>
        </p:nvSpPr>
        <p:spPr>
          <a:xfrm>
            <a:off x="1463040" y="1965960"/>
            <a:ext cx="9326880" cy="2377440"/>
          </a:xfrm>
          <a:prstGeom prst="rect">
            <a:avLst/>
          </a:prstGeom>
          <a:noFill/>
        </p:spPr>
        <p:txBody>
          <a:bodyPr wrap="square" anchor="ctr" lIns="0" rIns="0" tIns="0" bIns="0">
            <a:spAutoFit/>
          </a:bodyPr>
          <a:lstStyle/>
          <a:p>
            <a:pPr algn="l">
              <a:lnSpc>
                <a:spcPct val="112000"/>
              </a:lnSpc>
            </a:pPr>
            <a:r>
              <a:rPr sz="4200" b="0" i="0">
                <a:solidFill>
                  <a:srgbClr val="1C2620"/>
                </a:solidFill>
                <a:latin typeface="Georgia"/>
              </a:rPr>
              <a:t>Develop [a] model for psychological counseling.</a:t>
            </a:r>
          </a:p>
        </p:txBody>
      </p:sp>
      <p:sp>
        <p:nvSpPr>
          <p:cNvPr id="4" name="Rectangle 3"/>
          <p:cNvSpPr/>
          <p:nvPr/>
        </p:nvSpPr>
        <p:spPr>
          <a:xfrm>
            <a:off x="1463040" y="4572000"/>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4800600"/>
            <a:ext cx="9326880" cy="1097280"/>
          </a:xfrm>
          <a:prstGeom prst="rect">
            <a:avLst/>
          </a:prstGeom>
          <a:noFill/>
        </p:spPr>
        <p:txBody>
          <a:bodyPr wrap="square" anchor="t" lIns="0" rIns="0" tIns="0" bIns="0">
            <a:spAutoFit/>
          </a:bodyPr>
          <a:lstStyle/>
          <a:p>
            <a:pPr algn="l">
              <a:lnSpc>
                <a:spcPct val="108000"/>
              </a:lnSpc>
            </a:pPr>
            <a:r>
              <a:rPr sz="1500" b="0" i="0">
                <a:solidFill>
                  <a:srgbClr val="6B7A72"/>
                </a:solidFill>
                <a:latin typeface="Helvetica Neue"/>
              </a:rPr>
              <a:t>Project 5 brief — and two of its five references are StatPearls on CBT and Cleveland Clinic on ACT. It asks for a protocol, not a chatbot.</a:t>
            </a:r>
          </a:p>
        </p:txBody>
      </p:sp>
      <p:sp>
        <p:nvSpPr>
          <p:cNvPr id="6" name="TextBox 5"/>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7" name="TextBox 6"/>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502920"/>
            <a:ext cx="10789920" cy="822960"/>
          </a:xfrm>
          <a:prstGeom prst="rect">
            <a:avLst/>
          </a:prstGeom>
          <a:noFill/>
        </p:spPr>
        <p:txBody>
          <a:bodyPr wrap="square" anchor="t" lIns="0" rIns="0" tIns="0" bIns="0">
            <a:spAutoFit/>
          </a:bodyPr>
          <a:lstStyle/>
          <a:p>
            <a:pPr algn="l">
              <a:lnSpc>
                <a:spcPct val="108000"/>
              </a:lnSpc>
            </a:pPr>
            <a:r>
              <a:rPr sz="3000" b="1" i="0">
                <a:solidFill>
                  <a:srgbClr val="1C2620"/>
                </a:solidFill>
                <a:latin typeface="Helvetica Neue"/>
              </a:rPr>
              <a:t>ZenAI checks every reply before it is sent</a:t>
            </a:r>
          </a:p>
        </p:txBody>
      </p:sp>
      <p:sp>
        <p:nvSpPr>
          <p:cNvPr id="3" name="Rectangle 2"/>
          <p:cNvSpPr/>
          <p:nvPr/>
        </p:nvSpPr>
        <p:spPr>
          <a:xfrm>
            <a:off x="685800" y="1307592"/>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91640"/>
            <a:ext cx="5120640" cy="4480560"/>
          </a:xfrm>
          <a:prstGeom prst="rect">
            <a:avLst/>
          </a:prstGeom>
          <a:noFill/>
        </p:spPr>
        <p:txBody>
          <a:bodyPr wrap="square" anchor="t" lIns="0" rIns="0" tIns="0" bIns="0">
            <a:spAutoFit/>
          </a:bodyPr>
          <a:lstStyle/>
          <a:p>
            <a:pPr>
              <a:lnSpc>
                <a:spcPct val="110000"/>
              </a:lnSpc>
              <a:spcAft>
                <a:spcPts val="1387"/>
              </a:spcAft>
            </a:pPr>
            <a:r>
              <a:rPr sz="1017">
                <a:solidFill>
                  <a:srgbClr val="2F6F5E"/>
                </a:solidFill>
                <a:latin typeface="Helvetica Neue"/>
              </a:rPr>
              <a:t>●  </a:t>
            </a:r>
            <a:r>
              <a:rPr sz="1850" b="0" i="0">
                <a:solidFill>
                  <a:srgbClr val="1C2620"/>
                </a:solidFill>
                <a:latin typeface="Helvetica Neue"/>
              </a:rPr>
              <a:t>The </a:t>
            </a:r>
            <a:r>
              <a:rPr sz="1850" b="1" i="0">
                <a:solidFill>
                  <a:srgbClr val="1C2620"/>
                </a:solidFill>
                <a:latin typeface="Helvetica Neue"/>
              </a:rPr>
              <a:t>Fidelity Monitor</a:t>
            </a:r>
            <a:r>
              <a:rPr sz="1850" b="0" i="0">
                <a:solidFill>
                  <a:srgbClr val="1C2620"/>
                </a:solidFill>
                <a:latin typeface="Helvetica Neue"/>
              </a:rPr>
              <a:t> reads each draft sentence by sentence, before the student sees it</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It detects the prohibited moves: </a:t>
            </a:r>
            <a:r>
              <a:rPr sz="1850" b="1" i="0">
                <a:solidFill>
                  <a:srgbClr val="1C2620"/>
                </a:solidFill>
                <a:latin typeface="Helvetica Neue"/>
              </a:rPr>
              <a:t>advice</a:t>
            </a:r>
            <a:r>
              <a:rPr sz="1850" b="0" i="0">
                <a:solidFill>
                  <a:srgbClr val="1C2620"/>
                </a:solidFill>
                <a:latin typeface="Helvetica Neue"/>
              </a:rPr>
              <a:t> and </a:t>
            </a:r>
            <a:r>
              <a:rPr sz="1850" b="1" i="0">
                <a:solidFill>
                  <a:srgbClr val="1C2620"/>
                </a:solidFill>
                <a:latin typeface="Helvetica Neue"/>
              </a:rPr>
              <a:t>reassurance</a:t>
            </a:r>
            <a:r>
              <a:rPr sz="1850" b="0" i="0">
                <a:solidFill>
                  <a:srgbClr val="1C2620"/>
                </a:solidFill>
                <a:latin typeface="Helvetica Neue"/>
              </a:rPr>
              <a:t> today, diagnosis next</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A draft that drifts is </a:t>
            </a:r>
            <a:r>
              <a:rPr sz="1850" b="1" i="0">
                <a:solidFill>
                  <a:srgbClr val="1C2620"/>
                </a:solidFill>
                <a:latin typeface="Helvetica Neue"/>
              </a:rPr>
              <a:t>rejected and rewritten</a:t>
            </a:r>
            <a:r>
              <a:rPr sz="1850" b="0" i="0">
                <a:solidFill>
                  <a:srgbClr val="1C2620"/>
                </a:solidFill>
                <a:latin typeface="Helvetica Neue"/>
              </a:rPr>
              <a:t> — this is the film’s example, running for real</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Every score is logged, so drift becomes a number we can measure</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Status: </a:t>
            </a:r>
            <a:r>
              <a:rPr sz="1850" b="1" i="0">
                <a:solidFill>
                  <a:srgbClr val="1C2620"/>
                </a:solidFill>
                <a:latin typeface="Helvetica Neue"/>
              </a:rPr>
              <a:t>drift detector trained</a:t>
            </a:r>
            <a:r>
              <a:rPr sz="1850" b="0" i="0">
                <a:solidFill>
                  <a:srgbClr val="1C2620"/>
                </a:solidFill>
                <a:latin typeface="Helvetica Neue"/>
              </a:rPr>
              <a:t>; scoring against the six ACT processes is next</a:t>
            </a:r>
          </a:p>
        </p:txBody>
      </p:sp>
      <p:sp>
        <p:nvSpPr>
          <p:cNvPr id="5" name="Rectangle 4"/>
          <p:cNvSpPr/>
          <p:nvPr/>
        </p:nvSpPr>
        <p:spPr>
          <a:xfrm>
            <a:off x="6044184" y="2149411"/>
            <a:ext cx="5513831" cy="3473576"/>
          </a:xfrm>
          <a:prstGeom prst="rect">
            <a:avLst/>
          </a:prstGeom>
          <a:solidFill>
            <a:srgbClr val="FFFFFF"/>
          </a:solidFill>
          <a:ln w="952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fidelity-drift.png"/>
          <p:cNvPicPr>
            <a:picLocks noChangeAspect="1"/>
          </p:cNvPicPr>
          <p:nvPr/>
        </p:nvPicPr>
        <p:blipFill>
          <a:blip r:embed="rId2"/>
          <a:stretch>
            <a:fillRect/>
          </a:stretch>
        </p:blipFill>
        <p:spPr>
          <a:xfrm>
            <a:off x="6080760" y="2185987"/>
            <a:ext cx="5440679" cy="3400424"/>
          </a:xfrm>
          <a:prstGeom prst="rect">
            <a:avLst/>
          </a:prstGeom>
        </p:spPr>
      </p:pic>
      <p:sp>
        <p:nvSpPr>
          <p:cNvPr id="7" name="TextBox 6"/>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8" name="TextBox 7"/>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502920"/>
            <a:ext cx="10789920" cy="822960"/>
          </a:xfrm>
          <a:prstGeom prst="rect">
            <a:avLst/>
          </a:prstGeom>
          <a:noFill/>
        </p:spPr>
        <p:txBody>
          <a:bodyPr wrap="square" anchor="t" lIns="0" rIns="0" tIns="0" bIns="0">
            <a:spAutoFit/>
          </a:bodyPr>
          <a:lstStyle/>
          <a:p>
            <a:pPr algn="l">
              <a:lnSpc>
                <a:spcPct val="108000"/>
              </a:lnSpc>
            </a:pPr>
            <a:r>
              <a:rPr sz="3000" b="1" i="0">
                <a:solidFill>
                  <a:srgbClr val="1C2620"/>
                </a:solidFill>
                <a:latin typeface="Helvetica Neue"/>
              </a:rPr>
              <a:t>When it matters most, ZenAI stops talking</a:t>
            </a:r>
          </a:p>
        </p:txBody>
      </p:sp>
      <p:sp>
        <p:nvSpPr>
          <p:cNvPr id="3" name="Rectangle 2"/>
          <p:cNvSpPr/>
          <p:nvPr/>
        </p:nvSpPr>
        <p:spPr>
          <a:xfrm>
            <a:off x="685800" y="1307592"/>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91640"/>
            <a:ext cx="5120640" cy="4480560"/>
          </a:xfrm>
          <a:prstGeom prst="rect">
            <a:avLst/>
          </a:prstGeom>
          <a:noFill/>
        </p:spPr>
        <p:txBody>
          <a:bodyPr wrap="square" anchor="t" lIns="0" rIns="0" tIns="0" bIns="0">
            <a:spAutoFit/>
          </a:bodyPr>
          <a:lstStyle/>
          <a:p>
            <a:pPr>
              <a:lnSpc>
                <a:spcPct val="110000"/>
              </a:lnSpc>
              <a:spcAft>
                <a:spcPts val="1387"/>
              </a:spcAft>
            </a:pPr>
            <a:r>
              <a:rPr sz="1017">
                <a:solidFill>
                  <a:srgbClr val="2F6F5E"/>
                </a:solidFill>
                <a:latin typeface="Helvetica Neue"/>
              </a:rPr>
              <a:t>●  </a:t>
            </a:r>
            <a:r>
              <a:rPr sz="1850" b="0" i="0">
                <a:solidFill>
                  <a:srgbClr val="1C2620"/>
                </a:solidFill>
                <a:latin typeface="Helvetica Neue"/>
              </a:rPr>
              <a:t>The safety rail runs </a:t>
            </a:r>
            <a:r>
              <a:rPr sz="1850" b="1" i="0">
                <a:solidFill>
                  <a:srgbClr val="1C2620"/>
                </a:solidFill>
                <a:latin typeface="Helvetica Neue"/>
              </a:rPr>
              <a:t>before</a:t>
            </a:r>
            <a:r>
              <a:rPr sz="1850" b="0" i="0">
                <a:solidFill>
                  <a:srgbClr val="1C2620"/>
                </a:solidFill>
                <a:latin typeface="Helvetica Neue"/>
              </a:rPr>
              <a:t> any reply is drafted — privacy, then crisis</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Risk detected → 988 and the MSU Counseling Center, human handoff</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The text box disappears. ZenAI cannot keep talking, even if asked</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No therapy content is generated for that turn at all</a:t>
            </a:r>
          </a:p>
        </p:txBody>
      </p:sp>
      <p:sp>
        <p:nvSpPr>
          <p:cNvPr id="5" name="Rectangle 4"/>
          <p:cNvSpPr/>
          <p:nvPr/>
        </p:nvSpPr>
        <p:spPr>
          <a:xfrm>
            <a:off x="6044184" y="2129944"/>
            <a:ext cx="5513832" cy="3512510"/>
          </a:xfrm>
          <a:prstGeom prst="rect">
            <a:avLst/>
          </a:prstGeom>
          <a:solidFill>
            <a:srgbClr val="FFFFFF"/>
          </a:solidFill>
          <a:ln w="952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ill-crisis-crop.png"/>
          <p:cNvPicPr>
            <a:picLocks noChangeAspect="1"/>
          </p:cNvPicPr>
          <p:nvPr/>
        </p:nvPicPr>
        <p:blipFill>
          <a:blip r:embed="rId2"/>
          <a:stretch>
            <a:fillRect/>
          </a:stretch>
        </p:blipFill>
        <p:spPr>
          <a:xfrm>
            <a:off x="6080760" y="2166520"/>
            <a:ext cx="5440680" cy="3439358"/>
          </a:xfrm>
          <a:prstGeom prst="rect">
            <a:avLst/>
          </a:prstGeom>
        </p:spPr>
      </p:pic>
      <p:sp>
        <p:nvSpPr>
          <p:cNvPr id="7" name="TextBox 6"/>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8" name="TextBox 7"/>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502920"/>
            <a:ext cx="10789920" cy="822960"/>
          </a:xfrm>
          <a:prstGeom prst="rect">
            <a:avLst/>
          </a:prstGeom>
          <a:noFill/>
        </p:spPr>
        <p:txBody>
          <a:bodyPr wrap="square" anchor="t" lIns="0" rIns="0" tIns="0" bIns="0">
            <a:spAutoFit/>
          </a:bodyPr>
          <a:lstStyle/>
          <a:p>
            <a:pPr algn="l">
              <a:lnSpc>
                <a:spcPct val="108000"/>
              </a:lnSpc>
            </a:pPr>
            <a:r>
              <a:rPr sz="3000" b="1" i="0">
                <a:solidFill>
                  <a:srgbClr val="1C2620"/>
                </a:solidFill>
                <a:latin typeface="Helvetica Neue"/>
              </a:rPr>
              <a:t>Ten agents, four tiers</a:t>
            </a:r>
          </a:p>
        </p:txBody>
      </p:sp>
      <p:sp>
        <p:nvSpPr>
          <p:cNvPr id="3" name="Rectangle 2"/>
          <p:cNvSpPr/>
          <p:nvPr/>
        </p:nvSpPr>
        <p:spPr>
          <a:xfrm>
            <a:off x="685800" y="1307592"/>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9224" y="1544421"/>
            <a:ext cx="10890504" cy="4400092"/>
          </a:xfrm>
          <a:prstGeom prst="rect">
            <a:avLst/>
          </a:prstGeom>
          <a:solidFill>
            <a:srgbClr val="FFFFFF"/>
          </a:solidFill>
          <a:ln w="952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architecture-slide.png"/>
          <p:cNvPicPr>
            <a:picLocks noChangeAspect="1"/>
          </p:cNvPicPr>
          <p:nvPr/>
        </p:nvPicPr>
        <p:blipFill>
          <a:blip r:embed="rId2"/>
          <a:stretch>
            <a:fillRect/>
          </a:stretch>
        </p:blipFill>
        <p:spPr>
          <a:xfrm>
            <a:off x="685800" y="1580997"/>
            <a:ext cx="10817352" cy="4326940"/>
          </a:xfrm>
          <a:prstGeom prst="rect">
            <a:avLst/>
          </a:prstGeom>
        </p:spPr>
      </p:pic>
      <p:sp>
        <p:nvSpPr>
          <p:cNvPr id="6" name="TextBox 5"/>
          <p:cNvSpPr txBox="1"/>
          <p:nvPr/>
        </p:nvSpPr>
        <p:spPr>
          <a:xfrm>
            <a:off x="685800" y="5989320"/>
            <a:ext cx="10817352" cy="365760"/>
          </a:xfrm>
          <a:prstGeom prst="rect">
            <a:avLst/>
          </a:prstGeom>
          <a:noFill/>
        </p:spPr>
        <p:txBody>
          <a:bodyPr wrap="square" anchor="t" lIns="0" rIns="0" tIns="0" bIns="0">
            <a:spAutoFit/>
          </a:bodyPr>
          <a:lstStyle/>
          <a:p>
            <a:pPr algn="ctr">
              <a:lnSpc>
                <a:spcPct val="108000"/>
              </a:lnSpc>
            </a:pPr>
            <a:r>
              <a:rPr sz="1200" b="0" i="1">
                <a:solidFill>
                  <a:srgbClr val="6B7A72"/>
                </a:solidFill>
                <a:latin typeface="Helvetica Neue"/>
              </a:rPr>
              <a:t>Green tags are working in the repo today · grey tags are specified and scheduled · the gold box is the contribution</a:t>
            </a:r>
          </a:p>
        </p:txBody>
      </p:sp>
      <p:sp>
        <p:nvSpPr>
          <p:cNvPr id="7" name="TextBox 6"/>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8" name="TextBox 7"/>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502920"/>
            <a:ext cx="10789920" cy="822960"/>
          </a:xfrm>
          <a:prstGeom prst="rect">
            <a:avLst/>
          </a:prstGeom>
          <a:noFill/>
        </p:spPr>
        <p:txBody>
          <a:bodyPr wrap="square" anchor="t" lIns="0" rIns="0" tIns="0" bIns="0">
            <a:spAutoFit/>
          </a:bodyPr>
          <a:lstStyle/>
          <a:p>
            <a:pPr algn="l">
              <a:lnSpc>
                <a:spcPct val="108000"/>
              </a:lnSpc>
            </a:pPr>
            <a:r>
              <a:rPr sz="3000" b="1" i="0">
                <a:solidFill>
                  <a:srgbClr val="1C2620"/>
                </a:solidFill>
                <a:latin typeface="Helvetica Neue"/>
              </a:rPr>
              <a:t>Also in progress: Google Cloud Agent Platform</a:t>
            </a:r>
          </a:p>
        </p:txBody>
      </p:sp>
      <p:sp>
        <p:nvSpPr>
          <p:cNvPr id="3" name="Rectangle 2"/>
          <p:cNvSpPr/>
          <p:nvPr/>
        </p:nvSpPr>
        <p:spPr>
          <a:xfrm>
            <a:off x="685800" y="1307592"/>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91640"/>
            <a:ext cx="5120640" cy="4480560"/>
          </a:xfrm>
          <a:prstGeom prst="rect">
            <a:avLst/>
          </a:prstGeom>
          <a:noFill/>
        </p:spPr>
        <p:txBody>
          <a:bodyPr wrap="square" anchor="t" lIns="0" rIns="0" tIns="0" bIns="0">
            <a:spAutoFit/>
          </a:bodyPr>
          <a:lstStyle/>
          <a:p>
            <a:pPr>
              <a:lnSpc>
                <a:spcPct val="110000"/>
              </a:lnSpc>
              <a:spcAft>
                <a:spcPts val="1387"/>
              </a:spcAft>
            </a:pPr>
            <a:r>
              <a:rPr sz="1017">
                <a:solidFill>
                  <a:srgbClr val="2F6F5E"/>
                </a:solidFill>
                <a:latin typeface="Helvetica Neue"/>
              </a:rPr>
              <a:t>●  </a:t>
            </a:r>
            <a:r>
              <a:rPr sz="1850" b="0" i="0">
                <a:solidFill>
                  <a:srgbClr val="1C2620"/>
                </a:solidFill>
                <a:latin typeface="Helvetica Neue"/>
              </a:rPr>
              <a:t>Project </a:t>
            </a:r>
            <a:r>
              <a:rPr sz="1850" b="1" i="0">
                <a:solidFill>
                  <a:srgbClr val="1C2620"/>
                </a:solidFill>
                <a:latin typeface="Helvetica Neue"/>
              </a:rPr>
              <a:t>ZenAI</a:t>
            </a:r>
            <a:r>
              <a:rPr sz="1850" b="0" i="0">
                <a:solidFill>
                  <a:srgbClr val="1C2620"/>
                </a:solidFill>
                <a:latin typeface="Helvetica Neue"/>
              </a:rPr>
              <a:t> (</a:t>
            </a:r>
            <a:r>
              <a:rPr sz="1665" b="0" i="0">
                <a:solidFill>
                  <a:srgbClr val="1C2620"/>
                </a:solidFill>
                <a:latin typeface="Menlo"/>
              </a:rPr>
              <a:t>zenai-511701</a:t>
            </a:r>
            <a:r>
              <a:rPr sz="1850" b="0" i="0">
                <a:solidFill>
                  <a:srgbClr val="1C2620"/>
                </a:solidFill>
                <a:latin typeface="Helvetica Neue"/>
              </a:rPr>
              <a:t>) on Dr. Wang’s reference stack</a:t>
            </a:r>
          </a:p>
          <a:p>
            <a:pPr>
              <a:lnSpc>
                <a:spcPct val="110000"/>
              </a:lnSpc>
              <a:spcAft>
                <a:spcPts val="1387"/>
              </a:spcAft>
            </a:pPr>
            <a:r>
              <a:rPr sz="1017">
                <a:solidFill>
                  <a:srgbClr val="2F6F5E"/>
                </a:solidFill>
                <a:latin typeface="Helvetica Neue"/>
              </a:rPr>
              <a:t>●  </a:t>
            </a:r>
            <a:r>
              <a:rPr sz="1850" b="1" i="0">
                <a:solidFill>
                  <a:srgbClr val="1C2620"/>
                </a:solidFill>
                <a:latin typeface="Helvetica Neue"/>
              </a:rPr>
              <a:t>Conversation Agent</a:t>
            </a:r>
            <a:r>
              <a:rPr sz="1850" b="0" i="0">
                <a:solidFill>
                  <a:srgbClr val="1C2620"/>
                </a:solidFill>
                <a:latin typeface="Helvetica Neue"/>
              </a:rPr>
              <a:t> — greets students, assesses their emotional state, routes to sub-agents</a:t>
            </a:r>
          </a:p>
          <a:p>
            <a:pPr>
              <a:lnSpc>
                <a:spcPct val="110000"/>
              </a:lnSpc>
              <a:spcAft>
                <a:spcPts val="1387"/>
              </a:spcAft>
            </a:pPr>
            <a:r>
              <a:rPr sz="1017">
                <a:solidFill>
                  <a:srgbClr val="2F6F5E"/>
                </a:solidFill>
                <a:latin typeface="Helvetica Neue"/>
              </a:rPr>
              <a:t>●  </a:t>
            </a:r>
            <a:r>
              <a:rPr sz="1850" b="1" i="0">
                <a:solidFill>
                  <a:srgbClr val="1C2620"/>
                </a:solidFill>
                <a:latin typeface="Helvetica Neue"/>
              </a:rPr>
              <a:t>Crisis and Safety Agent</a:t>
            </a:r>
            <a:r>
              <a:rPr sz="1850" b="0" i="0">
                <a:solidFill>
                  <a:srgbClr val="1C2620"/>
                </a:solidFill>
                <a:latin typeface="Helvetica Neue"/>
              </a:rPr>
              <a:t> — routes crisis inquiries to counseling resources</a:t>
            </a:r>
          </a:p>
          <a:p>
            <a:pPr>
              <a:lnSpc>
                <a:spcPct val="110000"/>
              </a:lnSpc>
              <a:spcAft>
                <a:spcPts val="1387"/>
              </a:spcAft>
            </a:pPr>
            <a:r>
              <a:rPr sz="1017">
                <a:solidFill>
                  <a:srgbClr val="2F6F5E"/>
                </a:solidFill>
                <a:latin typeface="Helvetica Neue"/>
              </a:rPr>
              <a:t>●  </a:t>
            </a:r>
            <a:r>
              <a:rPr sz="1850" b="1" i="0">
                <a:solidFill>
                  <a:srgbClr val="1C2620"/>
                </a:solidFill>
                <a:latin typeface="Helvetica Neue"/>
              </a:rPr>
              <a:t>Status:</a:t>
            </a:r>
            <a:r>
              <a:rPr sz="1850" b="0" i="0">
                <a:solidFill>
                  <a:srgbClr val="1C2620"/>
                </a:solidFill>
                <a:latin typeface="Helvetica Neue"/>
              </a:rPr>
              <a:t> both agents are created; the team member who built them will demo what they do</a:t>
            </a:r>
          </a:p>
          <a:p>
            <a:pPr>
              <a:lnSpc>
                <a:spcPct val="110000"/>
              </a:lnSpc>
              <a:spcAft>
                <a:spcPts val="1387"/>
              </a:spcAft>
            </a:pPr>
            <a:r>
              <a:rPr sz="1017">
                <a:solidFill>
                  <a:srgbClr val="2F6F5E"/>
                </a:solidFill>
                <a:latin typeface="Helvetica Neue"/>
              </a:rPr>
              <a:t>●  </a:t>
            </a:r>
            <a:r>
              <a:rPr sz="1850" b="1" i="0">
                <a:solidFill>
                  <a:srgbClr val="1C2620"/>
                </a:solidFill>
                <a:latin typeface="Helvetica Neue"/>
              </a:rPr>
              <a:t>Open question:</a:t>
            </a:r>
            <a:r>
              <a:rPr sz="1850" b="0" i="0">
                <a:solidFill>
                  <a:srgbClr val="1C2620"/>
                </a:solidFill>
                <a:latin typeface="Helvetica Neue"/>
              </a:rPr>
              <a:t> whether this becomes the Conversation Agent’s engine — either way, every draft passes the Fidelity Monitor</a:t>
            </a:r>
          </a:p>
        </p:txBody>
      </p:sp>
      <p:sp>
        <p:nvSpPr>
          <p:cNvPr id="5" name="Rectangle 4"/>
          <p:cNvSpPr/>
          <p:nvPr/>
        </p:nvSpPr>
        <p:spPr>
          <a:xfrm>
            <a:off x="6044184" y="2607174"/>
            <a:ext cx="5513832" cy="2558050"/>
          </a:xfrm>
          <a:prstGeom prst="rect">
            <a:avLst/>
          </a:prstGeom>
          <a:solidFill>
            <a:srgbClr val="FFFFFF"/>
          </a:solidFill>
          <a:ln w="952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gent-builder-agents.png"/>
          <p:cNvPicPr>
            <a:picLocks noChangeAspect="1"/>
          </p:cNvPicPr>
          <p:nvPr/>
        </p:nvPicPr>
        <p:blipFill>
          <a:blip r:embed="rId2"/>
          <a:stretch>
            <a:fillRect/>
          </a:stretch>
        </p:blipFill>
        <p:spPr>
          <a:xfrm>
            <a:off x="6080760" y="2643750"/>
            <a:ext cx="5440680" cy="2484898"/>
          </a:xfrm>
          <a:prstGeom prst="rect">
            <a:avLst/>
          </a:prstGeom>
        </p:spPr>
      </p:pic>
      <p:sp>
        <p:nvSpPr>
          <p:cNvPr id="7" name="TextBox 6"/>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8" name="TextBox 7"/>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F6F5E"/>
        </a:solidFill>
        <a:effectLst/>
      </p:bgPr>
    </p:bg>
    <p:spTree>
      <p:nvGrpSpPr>
        <p:cNvPr id="1" name=""/>
        <p:cNvGrpSpPr/>
        <p:nvPr/>
      </p:nvGrpSpPr>
      <p:grpSpPr/>
      <p:sp>
        <p:nvSpPr>
          <p:cNvPr id="2" name="TextBox 1"/>
          <p:cNvSpPr txBox="1"/>
          <p:nvPr/>
        </p:nvSpPr>
        <p:spPr>
          <a:xfrm>
            <a:off x="914400" y="2377440"/>
            <a:ext cx="10332720" cy="1188720"/>
          </a:xfrm>
          <a:prstGeom prst="rect">
            <a:avLst/>
          </a:prstGeom>
          <a:noFill/>
        </p:spPr>
        <p:txBody>
          <a:bodyPr wrap="square" anchor="t" lIns="0" rIns="0" tIns="0" bIns="0">
            <a:spAutoFit/>
          </a:bodyPr>
          <a:lstStyle/>
          <a:p>
            <a:pPr algn="l">
              <a:lnSpc>
                <a:spcPct val="108000"/>
              </a:lnSpc>
            </a:pPr>
            <a:r>
              <a:rPr sz="5400" b="1" i="0">
                <a:solidFill>
                  <a:srgbClr val="FFFFFF"/>
                </a:solidFill>
                <a:latin typeface="Helvetica Neue"/>
              </a:rPr>
              <a:t>Progress on the core area</a:t>
            </a:r>
          </a:p>
        </p:txBody>
      </p:sp>
      <p:sp>
        <p:nvSpPr>
          <p:cNvPr id="3" name="TextBox 2"/>
          <p:cNvSpPr txBox="1"/>
          <p:nvPr/>
        </p:nvSpPr>
        <p:spPr>
          <a:xfrm>
            <a:off x="914400" y="3657600"/>
            <a:ext cx="10332720" cy="914400"/>
          </a:xfrm>
          <a:prstGeom prst="rect">
            <a:avLst/>
          </a:prstGeom>
          <a:noFill/>
        </p:spPr>
        <p:txBody>
          <a:bodyPr wrap="square" anchor="t" lIns="0" rIns="0" tIns="0" bIns="0">
            <a:spAutoFit/>
          </a:bodyPr>
          <a:lstStyle/>
          <a:p>
            <a:pPr algn="l">
              <a:lnSpc>
                <a:spcPct val="108000"/>
              </a:lnSpc>
            </a:pPr>
            <a:r>
              <a:rPr sz="2000" b="0" i="0">
                <a:solidFill>
                  <a:srgbClr val="D6E8DF"/>
                </a:solidFill>
                <a:latin typeface="Helvetica Neue"/>
              </a:rPr>
              <a:t>The rubric: “for AI/ML projects, it means the model and 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1051560"/>
            <a:ext cx="10817352" cy="2377440"/>
          </a:xfrm>
          <a:prstGeom prst="rect">
            <a:avLst/>
          </a:prstGeom>
          <a:noFill/>
        </p:spPr>
        <p:txBody>
          <a:bodyPr wrap="square" anchor="ctr" lIns="0" rIns="0" tIns="0" bIns="0">
            <a:spAutoFit/>
          </a:bodyPr>
          <a:lstStyle/>
          <a:p>
            <a:pPr algn="ctr">
              <a:lnSpc>
                <a:spcPct val="108000"/>
              </a:lnSpc>
            </a:pPr>
            <a:r>
              <a:rPr sz="12800" b="1" i="0">
                <a:solidFill>
                  <a:srgbClr val="2F6F5E"/>
                </a:solidFill>
                <a:latin typeface="Helvetica Neue"/>
              </a:rPr>
              <a:t>0 → 0.47</a:t>
            </a:r>
          </a:p>
        </p:txBody>
      </p:sp>
      <p:sp>
        <p:nvSpPr>
          <p:cNvPr id="3" name="TextBox 2"/>
          <p:cNvSpPr txBox="1"/>
          <p:nvPr/>
        </p:nvSpPr>
        <p:spPr>
          <a:xfrm>
            <a:off x="1371600" y="3611880"/>
            <a:ext cx="9445752" cy="731520"/>
          </a:xfrm>
          <a:prstGeom prst="rect">
            <a:avLst/>
          </a:prstGeom>
          <a:noFill/>
        </p:spPr>
        <p:txBody>
          <a:bodyPr wrap="square" anchor="t" lIns="0" rIns="0" tIns="0" bIns="0">
            <a:spAutoFit/>
          </a:bodyPr>
          <a:lstStyle/>
          <a:p>
            <a:pPr algn="ctr">
              <a:lnSpc>
                <a:spcPct val="108000"/>
              </a:lnSpc>
            </a:pPr>
            <a:r>
              <a:rPr sz="3000" b="1" i="0">
                <a:solidFill>
                  <a:srgbClr val="1C2620"/>
                </a:solidFill>
                <a:latin typeface="Helvetica Neue"/>
              </a:rPr>
              <a:t>A class the standard dataset cannot see</a:t>
            </a:r>
          </a:p>
        </p:txBody>
      </p:sp>
      <p:sp>
        <p:nvSpPr>
          <p:cNvPr id="4" name="TextBox 3"/>
          <p:cNvSpPr txBox="1"/>
          <p:nvPr/>
        </p:nvSpPr>
        <p:spPr>
          <a:xfrm>
            <a:off x="1828800" y="4434840"/>
            <a:ext cx="8531352" cy="1463040"/>
          </a:xfrm>
          <a:prstGeom prst="rect">
            <a:avLst/>
          </a:prstGeom>
          <a:noFill/>
        </p:spPr>
        <p:txBody>
          <a:bodyPr wrap="square" anchor="t" lIns="0" rIns="0" tIns="0" bIns="0">
            <a:spAutoFit/>
          </a:bodyPr>
          <a:lstStyle/>
          <a:p>
            <a:pPr algn="ctr">
              <a:lnSpc>
                <a:spcPct val="120000"/>
              </a:lnSpc>
            </a:pPr>
            <a:r>
              <a:rPr sz="1700" b="0" i="0">
                <a:solidFill>
                  <a:srgbClr val="6B7A72"/>
                </a:solidFill>
                <a:latin typeface="Helvetica Neue"/>
              </a:rPr>
              <a:t>GoEmotions — the dataset everyone reaches for — has no loneliness label. Our isolation class scored 0.00. Adding EmpatheticDialogues took it to 0.47.</a:t>
            </a:r>
          </a:p>
        </p:txBody>
      </p:sp>
      <p:sp>
        <p:nvSpPr>
          <p:cNvPr id="5" name="TextBox 4"/>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6" name="TextBox 5"/>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502920"/>
            <a:ext cx="10789920" cy="822960"/>
          </a:xfrm>
          <a:prstGeom prst="rect">
            <a:avLst/>
          </a:prstGeom>
          <a:noFill/>
        </p:spPr>
        <p:txBody>
          <a:bodyPr wrap="square" anchor="t" lIns="0" rIns="0" tIns="0" bIns="0">
            <a:spAutoFit/>
          </a:bodyPr>
          <a:lstStyle/>
          <a:p>
            <a:pPr algn="l">
              <a:lnSpc>
                <a:spcPct val="108000"/>
              </a:lnSpc>
            </a:pPr>
            <a:r>
              <a:rPr sz="3000" b="1" i="0">
                <a:solidFill>
                  <a:srgbClr val="1C2620"/>
                </a:solidFill>
                <a:latin typeface="Helvetica Neue"/>
              </a:rPr>
              <a:t>+0.076 macro-F1 — measured, not assumed</a:t>
            </a:r>
          </a:p>
        </p:txBody>
      </p:sp>
      <p:sp>
        <p:nvSpPr>
          <p:cNvPr id="3" name="Rectangle 2"/>
          <p:cNvSpPr/>
          <p:nvPr/>
        </p:nvSpPr>
        <p:spPr>
          <a:xfrm>
            <a:off x="685800" y="1307592"/>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84516" y="1536192"/>
            <a:ext cx="5619918" cy="4416552"/>
          </a:xfrm>
          <a:prstGeom prst="rect">
            <a:avLst/>
          </a:prstGeom>
          <a:solidFill>
            <a:srgbClr val="FFFFFF"/>
          </a:solidFill>
          <a:ln w="952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5-ablation.png"/>
          <p:cNvPicPr>
            <a:picLocks noChangeAspect="1"/>
          </p:cNvPicPr>
          <p:nvPr/>
        </p:nvPicPr>
        <p:blipFill>
          <a:blip r:embed="rId2"/>
          <a:stretch>
            <a:fillRect/>
          </a:stretch>
        </p:blipFill>
        <p:spPr>
          <a:xfrm>
            <a:off x="3321092" y="1572768"/>
            <a:ext cx="5546766" cy="4343400"/>
          </a:xfrm>
          <a:prstGeom prst="rect">
            <a:avLst/>
          </a:prstGeom>
        </p:spPr>
      </p:pic>
      <p:sp>
        <p:nvSpPr>
          <p:cNvPr id="6" name="TextBox 5"/>
          <p:cNvSpPr txBox="1"/>
          <p:nvPr/>
        </p:nvSpPr>
        <p:spPr>
          <a:xfrm>
            <a:off x="685800" y="5989320"/>
            <a:ext cx="10817352" cy="365760"/>
          </a:xfrm>
          <a:prstGeom prst="rect">
            <a:avLst/>
          </a:prstGeom>
          <a:noFill/>
        </p:spPr>
        <p:txBody>
          <a:bodyPr wrap="square" anchor="t" lIns="0" rIns="0" tIns="0" bIns="0">
            <a:spAutoFit/>
          </a:bodyPr>
          <a:lstStyle/>
          <a:p>
            <a:pPr algn="ctr">
              <a:lnSpc>
                <a:spcPct val="108000"/>
              </a:lnSpc>
            </a:pPr>
            <a:r>
              <a:rPr sz="1200" b="0" i="1">
                <a:solidFill>
                  <a:srgbClr val="6B7A72"/>
                </a:solidFill>
                <a:latin typeface="Helvetica Neue"/>
              </a:rPr>
              <a:t>Held-out 15% split · TF-IDF + logistic regression, class-balanced · 86,868 examples · majority-class baseline 0.106</a:t>
            </a:r>
          </a:p>
        </p:txBody>
      </p:sp>
      <p:sp>
        <p:nvSpPr>
          <p:cNvPr id="7" name="TextBox 6"/>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8" name="TextBox 7"/>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1051560"/>
            <a:ext cx="10817352" cy="2377440"/>
          </a:xfrm>
          <a:prstGeom prst="rect">
            <a:avLst/>
          </a:prstGeom>
          <a:noFill/>
        </p:spPr>
        <p:txBody>
          <a:bodyPr wrap="square" anchor="ctr" lIns="0" rIns="0" tIns="0" bIns="0">
            <a:spAutoFit/>
          </a:bodyPr>
          <a:lstStyle/>
          <a:p>
            <a:pPr algn="ctr">
              <a:lnSpc>
                <a:spcPct val="108000"/>
              </a:lnSpc>
            </a:pPr>
            <a:r>
              <a:rPr sz="12800" b="1" i="0">
                <a:solidFill>
                  <a:srgbClr val="2F6F5E"/>
                </a:solidFill>
                <a:latin typeface="Helvetica Neue"/>
              </a:rPr>
              <a:t>0.59</a:t>
            </a:r>
          </a:p>
        </p:txBody>
      </p:sp>
      <p:sp>
        <p:nvSpPr>
          <p:cNvPr id="3" name="TextBox 2"/>
          <p:cNvSpPr txBox="1"/>
          <p:nvPr/>
        </p:nvSpPr>
        <p:spPr>
          <a:xfrm>
            <a:off x="1371600" y="3611880"/>
            <a:ext cx="9445752" cy="731520"/>
          </a:xfrm>
          <a:prstGeom prst="rect">
            <a:avLst/>
          </a:prstGeom>
          <a:noFill/>
        </p:spPr>
        <p:txBody>
          <a:bodyPr wrap="square" anchor="t" lIns="0" rIns="0" tIns="0" bIns="0">
            <a:spAutoFit/>
          </a:bodyPr>
          <a:lstStyle/>
          <a:p>
            <a:pPr algn="ctr">
              <a:lnSpc>
                <a:spcPct val="108000"/>
              </a:lnSpc>
            </a:pPr>
            <a:r>
              <a:rPr sz="3000" b="1" i="0">
                <a:solidFill>
                  <a:srgbClr val="1C2620"/>
                </a:solidFill>
                <a:latin typeface="Helvetica Neue"/>
              </a:rPr>
              <a:t>The drift detector, measured on conversations it never saw</a:t>
            </a:r>
          </a:p>
        </p:txBody>
      </p:sp>
      <p:sp>
        <p:nvSpPr>
          <p:cNvPr id="4" name="TextBox 3"/>
          <p:cNvSpPr txBox="1"/>
          <p:nvPr/>
        </p:nvSpPr>
        <p:spPr>
          <a:xfrm>
            <a:off x="1828800" y="4434840"/>
            <a:ext cx="8531352" cy="1463040"/>
          </a:xfrm>
          <a:prstGeom prst="rect">
            <a:avLst/>
          </a:prstGeom>
          <a:noFill/>
        </p:spPr>
        <p:txBody>
          <a:bodyPr wrap="square" anchor="t" lIns="0" rIns="0" tIns="0" bIns="0">
            <a:spAutoFit/>
          </a:bodyPr>
          <a:lstStyle/>
          <a:p>
            <a:pPr algn="ctr">
              <a:lnSpc>
                <a:spcPct val="120000"/>
              </a:lnSpc>
            </a:pPr>
            <a:r>
              <a:rPr sz="1700" b="0" i="0">
                <a:solidFill>
                  <a:srgbClr val="6B7A72"/>
                </a:solidFill>
                <a:latin typeface="Helvetica Neue"/>
              </a:rPr>
              <a:t>Trained on ESConv — 18,153 supporter replies hand-labelled by strategy. Split by conversation, not by reply. Catches 77% of advice and 60% of reassurance; majority baseline 0.27.</a:t>
            </a:r>
          </a:p>
        </p:txBody>
      </p:sp>
      <p:sp>
        <p:nvSpPr>
          <p:cNvPr id="5" name="TextBox 4"/>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6" name="TextBox 5"/>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502920"/>
            <a:ext cx="10789920" cy="822960"/>
          </a:xfrm>
          <a:prstGeom prst="rect">
            <a:avLst/>
          </a:prstGeom>
          <a:noFill/>
        </p:spPr>
        <p:txBody>
          <a:bodyPr wrap="square" anchor="t" lIns="0" rIns="0" tIns="0" bIns="0">
            <a:spAutoFit/>
          </a:bodyPr>
          <a:lstStyle/>
          <a:p>
            <a:pPr algn="l">
              <a:lnSpc>
                <a:spcPct val="108000"/>
              </a:lnSpc>
            </a:pPr>
            <a:r>
              <a:rPr sz="3000" b="1" i="0">
                <a:solidFill>
                  <a:srgbClr val="1C2620"/>
                </a:solidFill>
                <a:latin typeface="Helvetica Neue"/>
              </a:rPr>
              <a:t>Crisis detection: recall first, and honest about data</a:t>
            </a:r>
          </a:p>
        </p:txBody>
      </p:sp>
      <p:sp>
        <p:nvSpPr>
          <p:cNvPr id="3" name="Rectangle 2"/>
          <p:cNvSpPr/>
          <p:nvPr/>
        </p:nvSpPr>
        <p:spPr>
          <a:xfrm>
            <a:off x="685800" y="1307592"/>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37360"/>
            <a:ext cx="10789920" cy="4526280"/>
          </a:xfrm>
          <a:prstGeom prst="rect">
            <a:avLst/>
          </a:prstGeom>
          <a:noFill/>
        </p:spPr>
        <p:txBody>
          <a:bodyPr wrap="square" anchor="t" lIns="0" rIns="0" tIns="0" bIns="0">
            <a:spAutoFit/>
          </a:bodyPr>
          <a:lstStyle/>
          <a:p>
            <a:pPr>
              <a:lnSpc>
                <a:spcPct val="110000"/>
              </a:lnSpc>
              <a:spcAft>
                <a:spcPts val="1725"/>
              </a:spcAft>
            </a:pPr>
            <a:r>
              <a:rPr sz="1265">
                <a:solidFill>
                  <a:srgbClr val="2F6F5E"/>
                </a:solidFill>
                <a:latin typeface="Helvetica Neue"/>
              </a:rPr>
              <a:t>●  </a:t>
            </a:r>
            <a:r>
              <a:rPr sz="2300" b="1" i="0">
                <a:solidFill>
                  <a:srgbClr val="1C2620"/>
                </a:solidFill>
                <a:latin typeface="Helvetica Neue"/>
              </a:rPr>
              <a:t>The rule:</a:t>
            </a:r>
            <a:r>
              <a:rPr sz="2300" b="0" i="0">
                <a:solidFill>
                  <a:srgbClr val="1C2620"/>
                </a:solidFill>
                <a:latin typeface="Helvetica Neue"/>
              </a:rPr>
              <a:t> a missed crisis and a false alarm are not the same error — the threshold is set by a recall floor, not by F1</a:t>
            </a:r>
          </a:p>
          <a:p>
            <a:pPr>
              <a:lnSpc>
                <a:spcPct val="110000"/>
              </a:lnSpc>
              <a:spcAft>
                <a:spcPts val="1725"/>
              </a:spcAft>
            </a:pPr>
            <a:r>
              <a:rPr sz="1265">
                <a:solidFill>
                  <a:srgbClr val="2F6F5E"/>
                </a:solidFill>
                <a:latin typeface="Helvetica Neue"/>
              </a:rPr>
              <a:t>●  </a:t>
            </a:r>
            <a:r>
              <a:rPr sz="2300" b="1" i="0">
                <a:solidFill>
                  <a:srgbClr val="1C2620"/>
                </a:solidFill>
                <a:latin typeface="Helvetica Neue"/>
              </a:rPr>
              <a:t>Built:</a:t>
            </a:r>
            <a:r>
              <a:rPr sz="2300" b="0" i="0">
                <a:solidFill>
                  <a:srgbClr val="1C2620"/>
                </a:solidFill>
                <a:latin typeface="Helvetica Neue"/>
              </a:rPr>
              <a:t> an evaluation harness that sweeps the threshold and states the precision we paid for the recall</a:t>
            </a:r>
          </a:p>
          <a:p>
            <a:pPr>
              <a:lnSpc>
                <a:spcPct val="110000"/>
              </a:lnSpc>
              <a:spcAft>
                <a:spcPts val="1725"/>
              </a:spcAft>
            </a:pPr>
            <a:r>
              <a:rPr sz="1265">
                <a:solidFill>
                  <a:srgbClr val="2F6F5E"/>
                </a:solidFill>
                <a:latin typeface="Helvetica Neue"/>
              </a:rPr>
              <a:t>●  </a:t>
            </a:r>
            <a:r>
              <a:rPr sz="2300" b="1" i="0">
                <a:solidFill>
                  <a:srgbClr val="1C2620"/>
                </a:solidFill>
                <a:latin typeface="Helvetica Neue"/>
              </a:rPr>
              <a:t>It found a bug on its first run:</a:t>
            </a:r>
            <a:r>
              <a:rPr sz="2300" b="0" i="0">
                <a:solidFill>
                  <a:srgbClr val="1C2620"/>
                </a:solidFill>
                <a:latin typeface="Helvetica Neue"/>
              </a:rPr>
              <a:t> the lexicon caught 1 of 6 obvious paraphrases — “hurting myself” did not match “hurt myself”. Fixed, and pinned by tests</a:t>
            </a:r>
          </a:p>
          <a:p>
            <a:pPr>
              <a:lnSpc>
                <a:spcPct val="110000"/>
              </a:lnSpc>
              <a:spcAft>
                <a:spcPts val="1725"/>
              </a:spcAft>
            </a:pPr>
            <a:r>
              <a:rPr sz="1265">
                <a:solidFill>
                  <a:srgbClr val="2F6F5E"/>
                </a:solidFill>
                <a:latin typeface="Helvetica Neue"/>
              </a:rPr>
              <a:t>●  </a:t>
            </a:r>
            <a:r>
              <a:rPr sz="2300" b="1" i="0">
                <a:solidFill>
                  <a:srgbClr val="1C2620"/>
                </a:solidFill>
                <a:latin typeface="Helvetica Neue"/>
              </a:rPr>
              <a:t>The honest limit:</a:t>
            </a:r>
            <a:r>
              <a:rPr sz="2300" b="0" i="0">
                <a:solidFill>
                  <a:srgbClr val="1C2620"/>
                </a:solidFill>
                <a:latin typeface="Helvetica Neue"/>
              </a:rPr>
              <a:t> there is no public labelled crisis corpus. The ones that exist are access-controlled, rightly. A real recall number needs qualified annotators or a data-use agreement</a:t>
            </a:r>
          </a:p>
          <a:p>
            <a:pPr>
              <a:lnSpc>
                <a:spcPct val="110000"/>
              </a:lnSpc>
              <a:spcAft>
                <a:spcPts val="1725"/>
              </a:spcAft>
            </a:pPr>
            <a:r>
              <a:rPr sz="1265">
                <a:solidFill>
                  <a:srgbClr val="2F6F5E"/>
                </a:solidFill>
                <a:latin typeface="Helvetica Neue"/>
              </a:rPr>
              <a:t>●  </a:t>
            </a:r>
            <a:r>
              <a:rPr sz="2300" b="0" i="0">
                <a:solidFill>
                  <a:srgbClr val="1C2620"/>
                </a:solidFill>
                <a:latin typeface="Helvetica Neue"/>
              </a:rPr>
              <a:t>The lexicon stays as a floor under any future model: </a:t>
            </a:r>
            <a:r>
              <a:rPr sz="2300" b="1" i="0">
                <a:solidFill>
                  <a:srgbClr val="1C2620"/>
                </a:solidFill>
                <a:latin typeface="Helvetica Neue"/>
              </a:rPr>
              <a:t>max(model, lexicon)</a:t>
            </a:r>
          </a:p>
        </p:txBody>
      </p:sp>
      <p:sp>
        <p:nvSpPr>
          <p:cNvPr id="5" name="TextBox 4"/>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6" name="TextBox 5"/>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502920"/>
            <a:ext cx="10789920" cy="822960"/>
          </a:xfrm>
          <a:prstGeom prst="rect">
            <a:avLst/>
          </a:prstGeom>
          <a:noFill/>
        </p:spPr>
        <p:txBody>
          <a:bodyPr wrap="square" anchor="t" lIns="0" rIns="0" tIns="0" bIns="0">
            <a:spAutoFit/>
          </a:bodyPr>
          <a:lstStyle/>
          <a:p>
            <a:pPr algn="l">
              <a:lnSpc>
                <a:spcPct val="108000"/>
              </a:lnSpc>
            </a:pPr>
            <a:r>
              <a:rPr sz="3000" b="1" i="0">
                <a:solidFill>
                  <a:srgbClr val="1C2620"/>
                </a:solidFill>
                <a:latin typeface="Helvetica Neue"/>
              </a:rPr>
              <a:t>A repository anyone can run</a:t>
            </a:r>
          </a:p>
        </p:txBody>
      </p:sp>
      <p:sp>
        <p:nvSpPr>
          <p:cNvPr id="3" name="Rectangle 2"/>
          <p:cNvSpPr/>
          <p:nvPr/>
        </p:nvSpPr>
        <p:spPr>
          <a:xfrm>
            <a:off x="685800" y="1307592"/>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91640"/>
            <a:ext cx="5120640" cy="4480560"/>
          </a:xfrm>
          <a:prstGeom prst="rect">
            <a:avLst/>
          </a:prstGeom>
          <a:noFill/>
        </p:spPr>
        <p:txBody>
          <a:bodyPr wrap="square" anchor="t" lIns="0" rIns="0" tIns="0" bIns="0">
            <a:spAutoFit/>
          </a:bodyPr>
          <a:lstStyle/>
          <a:p>
            <a:pPr>
              <a:lnSpc>
                <a:spcPct val="110000"/>
              </a:lnSpc>
              <a:spcAft>
                <a:spcPts val="1387"/>
              </a:spcAft>
            </a:pPr>
            <a:r>
              <a:rPr sz="1017">
                <a:solidFill>
                  <a:srgbClr val="2F6F5E"/>
                </a:solidFill>
                <a:latin typeface="Helvetica Neue"/>
              </a:rPr>
              <a:t>●  </a:t>
            </a:r>
            <a:r>
              <a:rPr sz="1850" b="1" i="0">
                <a:solidFill>
                  <a:srgbClr val="1C2620"/>
                </a:solidFill>
                <a:latin typeface="Helvetica Neue"/>
              </a:rPr>
              <a:t>github.com/Chinonsocheq21/Zenai</a:t>
            </a:r>
          </a:p>
          <a:p>
            <a:pPr>
              <a:lnSpc>
                <a:spcPct val="110000"/>
              </a:lnSpc>
              <a:spcAft>
                <a:spcPts val="1387"/>
              </a:spcAft>
            </a:pPr>
            <a:r>
              <a:rPr sz="1017">
                <a:solidFill>
                  <a:srgbClr val="2F6F5E"/>
                </a:solidFill>
                <a:latin typeface="Helvetica Neue"/>
              </a:rPr>
              <a:t>●  </a:t>
            </a:r>
            <a:r>
              <a:rPr sz="1665" b="0" i="0">
                <a:solidFill>
                  <a:srgbClr val="1C2620"/>
                </a:solidFill>
                <a:latin typeface="Menlo"/>
              </a:rPr>
              <a:t>./setup.sh</a:t>
            </a:r>
            <a:r>
              <a:rPr sz="1850" b="0" i="0">
                <a:solidFill>
                  <a:srgbClr val="1C2620"/>
                </a:solidFill>
                <a:latin typeface="Helvetica Neue"/>
              </a:rPr>
              <a:t> — clone to working trainer in one command, no Docker needed</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CI on every push: lint, plus 7 tests that can fail the build</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Every number on these slides is reproducible from </a:t>
            </a:r>
            <a:r>
              <a:rPr sz="1665" b="0" i="0">
                <a:solidFill>
                  <a:srgbClr val="1C2620"/>
                </a:solidFill>
                <a:latin typeface="Menlo"/>
              </a:rPr>
              <a:t>results/</a:t>
            </a:r>
            <a:r>
              <a:rPr sz="1850" b="0" i="0">
                <a:solidFill>
                  <a:srgbClr val="1C2620"/>
                </a:solidFill>
                <a:latin typeface="Helvetica Neue"/>
              </a:rPr>
              <a:t> and </a:t>
            </a:r>
            <a:r>
              <a:rPr sz="1665" b="0" i="0">
                <a:solidFill>
                  <a:srgbClr val="1C2620"/>
                </a:solidFill>
                <a:latin typeface="Menlo"/>
              </a:rPr>
              <a:t>training/</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Docker Compose: API · Postgres + pgvector · Redis</a:t>
            </a:r>
          </a:p>
        </p:txBody>
      </p:sp>
      <p:sp>
        <p:nvSpPr>
          <p:cNvPr id="5" name="Rectangle 4"/>
          <p:cNvSpPr/>
          <p:nvPr/>
        </p:nvSpPr>
        <p:spPr>
          <a:xfrm>
            <a:off x="6044184" y="2065314"/>
            <a:ext cx="5513832" cy="3641770"/>
          </a:xfrm>
          <a:prstGeom prst="rect">
            <a:avLst/>
          </a:prstGeom>
          <a:solidFill>
            <a:srgbClr val="FFFFFF"/>
          </a:solidFill>
          <a:ln w="952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hub-repo-crop.png"/>
          <p:cNvPicPr>
            <a:picLocks noChangeAspect="1"/>
          </p:cNvPicPr>
          <p:nvPr/>
        </p:nvPicPr>
        <p:blipFill>
          <a:blip r:embed="rId2"/>
          <a:stretch>
            <a:fillRect/>
          </a:stretch>
        </p:blipFill>
        <p:spPr>
          <a:xfrm>
            <a:off x="6080760" y="2101890"/>
            <a:ext cx="5440680" cy="3568618"/>
          </a:xfrm>
          <a:prstGeom prst="rect">
            <a:avLst/>
          </a:prstGeom>
        </p:spPr>
      </p:pic>
      <p:sp>
        <p:nvSpPr>
          <p:cNvPr id="7" name="TextBox 6"/>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8" name="TextBox 7"/>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502920"/>
            <a:ext cx="10789920" cy="822960"/>
          </a:xfrm>
          <a:prstGeom prst="rect">
            <a:avLst/>
          </a:prstGeom>
          <a:noFill/>
        </p:spPr>
        <p:txBody>
          <a:bodyPr wrap="square" anchor="t" lIns="0" rIns="0" tIns="0" bIns="0">
            <a:spAutoFit/>
          </a:bodyPr>
          <a:lstStyle/>
          <a:p>
            <a:pPr algn="l">
              <a:lnSpc>
                <a:spcPct val="108000"/>
              </a:lnSpc>
            </a:pPr>
            <a:r>
              <a:rPr sz="3000" b="1" i="0">
                <a:solidFill>
                  <a:srgbClr val="1C2620"/>
                </a:solidFill>
                <a:latin typeface="Helvetica Neue"/>
              </a:rPr>
              <a:t>Live: one message through the safety rail</a:t>
            </a:r>
          </a:p>
        </p:txBody>
      </p:sp>
      <p:sp>
        <p:nvSpPr>
          <p:cNvPr id="3" name="Rectangle 2"/>
          <p:cNvSpPr/>
          <p:nvPr/>
        </p:nvSpPr>
        <p:spPr>
          <a:xfrm>
            <a:off x="685800" y="1307592"/>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91640"/>
            <a:ext cx="5120640" cy="4480560"/>
          </a:xfrm>
          <a:prstGeom prst="rect">
            <a:avLst/>
          </a:prstGeom>
          <a:noFill/>
        </p:spPr>
        <p:txBody>
          <a:bodyPr wrap="square" anchor="t" lIns="0" rIns="0" tIns="0" bIns="0">
            <a:spAutoFit/>
          </a:bodyPr>
          <a:lstStyle/>
          <a:p>
            <a:pPr>
              <a:lnSpc>
                <a:spcPct val="110000"/>
              </a:lnSpc>
              <a:spcAft>
                <a:spcPts val="1387"/>
              </a:spcAft>
            </a:pPr>
            <a:r>
              <a:rPr sz="1017">
                <a:solidFill>
                  <a:srgbClr val="2F6F5E"/>
                </a:solidFill>
                <a:latin typeface="Helvetica Neue"/>
              </a:rPr>
              <a:t>●  </a:t>
            </a:r>
            <a:r>
              <a:rPr sz="1850" b="0" i="0">
                <a:solidFill>
                  <a:srgbClr val="1C2620"/>
                </a:solidFill>
                <a:latin typeface="Helvetica Neue"/>
              </a:rPr>
              <a:t>The </a:t>
            </a:r>
            <a:r>
              <a:rPr sz="1850" b="1" i="0">
                <a:solidFill>
                  <a:srgbClr val="1C2620"/>
                </a:solidFill>
                <a:latin typeface="Helvetica Neue"/>
              </a:rPr>
              <a:t>ZenAI console</a:t>
            </a:r>
            <a:r>
              <a:rPr sz="1850" b="0" i="0">
                <a:solidFill>
                  <a:srgbClr val="1C2620"/>
                </a:solidFill>
                <a:latin typeface="Helvetica Neue"/>
              </a:rPr>
              <a:t> — the real pipeline, running on this laptop</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Ordinary stress → privacy, crisis check, mood score, in </a:t>
            </a:r>
            <a:r>
              <a:rPr sz="1850" b="1" i="0">
                <a:solidFill>
                  <a:srgbClr val="1C2620"/>
                </a:solidFill>
                <a:latin typeface="Helvetica Neue"/>
              </a:rPr>
              <a:t>under 10 ms</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“Lonely since I moved here” → </a:t>
            </a:r>
            <a:r>
              <a:rPr sz="1850" b="1" i="0">
                <a:solidFill>
                  <a:srgbClr val="1C2620"/>
                </a:solidFill>
                <a:latin typeface="Helvetica Neue"/>
              </a:rPr>
              <a:t>isolation, 96%</a:t>
            </a:r>
          </a:p>
          <a:p>
            <a:pPr>
              <a:lnSpc>
                <a:spcPct val="110000"/>
              </a:lnSpc>
              <a:spcAft>
                <a:spcPts val="1387"/>
              </a:spcAft>
            </a:pPr>
            <a:r>
              <a:rPr sz="1017">
                <a:solidFill>
                  <a:srgbClr val="2F6F5E"/>
                </a:solidFill>
                <a:latin typeface="Helvetica Neue"/>
              </a:rPr>
              <a:t>●  </a:t>
            </a:r>
            <a:r>
              <a:rPr sz="1850" b="0" i="0">
                <a:solidFill>
                  <a:srgbClr val="1C2620"/>
                </a:solidFill>
                <a:latin typeface="Helvetica Neue"/>
              </a:rPr>
              <a:t>Crisis language → the rail trips, </a:t>
            </a:r>
            <a:r>
              <a:rPr sz="1850" b="1" i="0">
                <a:solidFill>
                  <a:srgbClr val="1C2620"/>
                </a:solidFill>
                <a:latin typeface="Helvetica Neue"/>
              </a:rPr>
              <a:t>every later stage is skipped</a:t>
            </a:r>
            <a:r>
              <a:rPr sz="1850" b="0" i="0">
                <a:solidFill>
                  <a:srgbClr val="1C2620"/>
                </a:solidFill>
                <a:latin typeface="Helvetica Neue"/>
              </a:rPr>
              <a:t>, the text box disappears</a:t>
            </a:r>
          </a:p>
          <a:p>
            <a:pPr>
              <a:lnSpc>
                <a:spcPct val="110000"/>
              </a:lnSpc>
              <a:spcAft>
                <a:spcPts val="1387"/>
              </a:spcAft>
            </a:pPr>
            <a:r>
              <a:rPr sz="1017">
                <a:solidFill>
                  <a:srgbClr val="2F6F5E"/>
                </a:solidFill>
                <a:latin typeface="Helvetica Neue"/>
              </a:rPr>
              <a:t>●  </a:t>
            </a:r>
            <a:r>
              <a:rPr sz="1850" b="1" i="0">
                <a:solidFill>
                  <a:srgbClr val="1C2620"/>
                </a:solidFill>
                <a:latin typeface="Helvetica Neue"/>
              </a:rPr>
              <a:t>Fidelity Monitor tab</a:t>
            </a:r>
            <a:r>
              <a:rPr sz="1850" b="0" i="0">
                <a:solidFill>
                  <a:srgbClr val="1C2620"/>
                </a:solidFill>
                <a:latin typeface="Helvetica Neue"/>
              </a:rPr>
              <a:t> → the film’s drifting reply, rejected; the in-protocol reply, sent</a:t>
            </a:r>
          </a:p>
        </p:txBody>
      </p:sp>
      <p:sp>
        <p:nvSpPr>
          <p:cNvPr id="5" name="Rectangle 4"/>
          <p:cNvSpPr/>
          <p:nvPr/>
        </p:nvSpPr>
        <p:spPr>
          <a:xfrm>
            <a:off x="6044184" y="2149411"/>
            <a:ext cx="5513831" cy="3473576"/>
          </a:xfrm>
          <a:prstGeom prst="rect">
            <a:avLst/>
          </a:prstGeom>
          <a:solidFill>
            <a:srgbClr val="FFFFFF"/>
          </a:solidFill>
          <a:ln w="952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crisis.png"/>
          <p:cNvPicPr>
            <a:picLocks noChangeAspect="1"/>
          </p:cNvPicPr>
          <p:nvPr/>
        </p:nvPicPr>
        <p:blipFill>
          <a:blip r:embed="rId2"/>
          <a:stretch>
            <a:fillRect/>
          </a:stretch>
        </p:blipFill>
        <p:spPr>
          <a:xfrm>
            <a:off x="6080760" y="2185987"/>
            <a:ext cx="5440679" cy="3400424"/>
          </a:xfrm>
          <a:prstGeom prst="rect">
            <a:avLst/>
          </a:prstGeom>
        </p:spPr>
      </p:pic>
      <p:sp>
        <p:nvSpPr>
          <p:cNvPr id="7" name="TextBox 6"/>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8" name="TextBox 7"/>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85800" y="502920"/>
            <a:ext cx="10789920" cy="822960"/>
          </a:xfrm>
          <a:prstGeom prst="rect">
            <a:avLst/>
          </a:prstGeom>
          <a:noFill/>
        </p:spPr>
        <p:txBody>
          <a:bodyPr wrap="square" anchor="t" lIns="0" rIns="0" tIns="0" bIns="0">
            <a:spAutoFit/>
          </a:bodyPr>
          <a:lstStyle/>
          <a:p>
            <a:pPr algn="l">
              <a:lnSpc>
                <a:spcPct val="108000"/>
              </a:lnSpc>
            </a:pPr>
            <a:r>
              <a:rPr sz="3000" b="1" i="0">
                <a:solidFill>
                  <a:srgbClr val="1C2620"/>
                </a:solidFill>
                <a:latin typeface="Helvetica Neue"/>
              </a:rPr>
              <a:t>The next two weeks</a:t>
            </a:r>
          </a:p>
        </p:txBody>
      </p:sp>
      <p:sp>
        <p:nvSpPr>
          <p:cNvPr id="3" name="Rectangle 2"/>
          <p:cNvSpPr/>
          <p:nvPr/>
        </p:nvSpPr>
        <p:spPr>
          <a:xfrm>
            <a:off x="685800" y="1307592"/>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37360"/>
            <a:ext cx="10789920" cy="4526280"/>
          </a:xfrm>
          <a:prstGeom prst="rect">
            <a:avLst/>
          </a:prstGeom>
          <a:noFill/>
        </p:spPr>
        <p:txBody>
          <a:bodyPr wrap="square" anchor="t" lIns="0" rIns="0" tIns="0" bIns="0">
            <a:spAutoFit/>
          </a:bodyPr>
          <a:lstStyle/>
          <a:p>
            <a:pPr>
              <a:lnSpc>
                <a:spcPct val="110000"/>
              </a:lnSpc>
              <a:spcAft>
                <a:spcPts val="1725"/>
              </a:spcAft>
            </a:pPr>
            <a:r>
              <a:rPr sz="1265">
                <a:solidFill>
                  <a:srgbClr val="2F6F5E"/>
                </a:solidFill>
                <a:latin typeface="Helvetica Neue"/>
              </a:rPr>
              <a:t>●  </a:t>
            </a:r>
            <a:r>
              <a:rPr sz="2300" b="1" i="0">
                <a:solidFill>
                  <a:srgbClr val="1C2620"/>
                </a:solidFill>
                <a:latin typeface="Helvetica Neue"/>
              </a:rPr>
              <a:t>Oct 20</a:t>
            </a:r>
            <a:r>
              <a:rPr sz="2300" b="0" i="0">
                <a:solidFill>
                  <a:srgbClr val="1C2620"/>
                </a:solidFill>
                <a:latin typeface="Helvetica Neue"/>
              </a:rPr>
              <a:t> — the ACT/CBT protocol written down, with diagnosis defined precisely enough to label</a:t>
            </a:r>
          </a:p>
          <a:p>
            <a:pPr>
              <a:lnSpc>
                <a:spcPct val="110000"/>
              </a:lnSpc>
              <a:spcAft>
                <a:spcPts val="1725"/>
              </a:spcAft>
            </a:pPr>
            <a:r>
              <a:rPr sz="1265">
                <a:solidFill>
                  <a:srgbClr val="2F6F5E"/>
                </a:solidFill>
                <a:latin typeface="Helvetica Neue"/>
              </a:rPr>
              <a:t>●  </a:t>
            </a:r>
            <a:r>
              <a:rPr sz="2300" b="1" i="0">
                <a:solidFill>
                  <a:srgbClr val="1C2620"/>
                </a:solidFill>
                <a:latin typeface="Helvetica Neue"/>
              </a:rPr>
              <a:t>Oct 22</a:t>
            </a:r>
            <a:r>
              <a:rPr sz="2300" b="0" i="0">
                <a:solidFill>
                  <a:srgbClr val="1C2620"/>
                </a:solidFill>
                <a:latin typeface="Helvetica Neue"/>
              </a:rPr>
              <a:t> — Conversation Agent drafting replies on that protocol (engine: Gemini or Grok, behind one function)</a:t>
            </a:r>
          </a:p>
          <a:p>
            <a:pPr>
              <a:lnSpc>
                <a:spcPct val="110000"/>
              </a:lnSpc>
              <a:spcAft>
                <a:spcPts val="1725"/>
              </a:spcAft>
            </a:pPr>
            <a:r>
              <a:rPr sz="1265">
                <a:solidFill>
                  <a:srgbClr val="2F6F5E"/>
                </a:solidFill>
                <a:latin typeface="Helvetica Neue"/>
              </a:rPr>
              <a:t>●  </a:t>
            </a:r>
            <a:r>
              <a:rPr sz="2300" b="1" i="0">
                <a:solidFill>
                  <a:srgbClr val="1C2620"/>
                </a:solidFill>
                <a:latin typeface="Helvetica Neue"/>
              </a:rPr>
              <a:t>Oct 27</a:t>
            </a:r>
            <a:r>
              <a:rPr sz="2300" b="0" i="0">
                <a:solidFill>
                  <a:srgbClr val="1C2620"/>
                </a:solidFill>
                <a:latin typeface="Helvetica Neue"/>
              </a:rPr>
              <a:t> — Fidelity Monitor in the loop: every draft checked; drift rewritten before it is sent</a:t>
            </a:r>
          </a:p>
          <a:p>
            <a:pPr>
              <a:lnSpc>
                <a:spcPct val="110000"/>
              </a:lnSpc>
              <a:spcAft>
                <a:spcPts val="1725"/>
              </a:spcAft>
            </a:pPr>
            <a:r>
              <a:rPr sz="1265">
                <a:solidFill>
                  <a:srgbClr val="2F6F5E"/>
                </a:solidFill>
                <a:latin typeface="Helvetica Neue"/>
              </a:rPr>
              <a:t>●  </a:t>
            </a:r>
            <a:r>
              <a:rPr sz="2300" b="1" i="0">
                <a:solidFill>
                  <a:srgbClr val="1C2620"/>
                </a:solidFill>
                <a:latin typeface="Helvetica Neue"/>
              </a:rPr>
              <a:t>Oct 29</a:t>
            </a:r>
            <a:r>
              <a:rPr sz="2300" b="0" i="0">
                <a:solidFill>
                  <a:srgbClr val="1C2620"/>
                </a:solidFill>
                <a:latin typeface="Helvetica Neue"/>
              </a:rPr>
              <a:t> — Experiment E1: drift rate with the monitor off vs on, 120 turns hand-audited</a:t>
            </a:r>
          </a:p>
          <a:p>
            <a:pPr>
              <a:lnSpc>
                <a:spcPct val="110000"/>
              </a:lnSpc>
              <a:spcAft>
                <a:spcPts val="1725"/>
              </a:spcAft>
            </a:pPr>
            <a:r>
              <a:rPr sz="1265">
                <a:solidFill>
                  <a:srgbClr val="2F6F5E"/>
                </a:solidFill>
                <a:latin typeface="Helvetica Neue"/>
              </a:rPr>
              <a:t>●  </a:t>
            </a:r>
            <a:r>
              <a:rPr sz="2300" b="1" i="0">
                <a:solidFill>
                  <a:srgbClr val="1C2620"/>
                </a:solidFill>
                <a:latin typeface="Helvetica Neue"/>
              </a:rPr>
              <a:t>Ongoing</a:t>
            </a:r>
            <a:r>
              <a:rPr sz="2300" b="0" i="0">
                <a:solidFill>
                  <a:srgbClr val="1C2620"/>
                </a:solidFill>
                <a:latin typeface="Helvetica Neue"/>
              </a:rPr>
              <a:t> — hand-label overwhelm (0.28) and diagnosis; fine-tune distilroberta against 0.521</a:t>
            </a:r>
          </a:p>
        </p:txBody>
      </p:sp>
      <p:sp>
        <p:nvSpPr>
          <p:cNvPr id="5" name="TextBox 4"/>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6" name="TextBox 5"/>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22960" y="1234440"/>
            <a:ext cx="1097280" cy="1097280"/>
          </a:xfrm>
          <a:prstGeom prst="rect">
            <a:avLst/>
          </a:prstGeom>
          <a:noFill/>
        </p:spPr>
        <p:txBody>
          <a:bodyPr wrap="square" anchor="t" lIns="0" rIns="0" tIns="0" bIns="0">
            <a:spAutoFit/>
          </a:bodyPr>
          <a:lstStyle/>
          <a:p>
            <a:pPr algn="l">
              <a:lnSpc>
                <a:spcPct val="108000"/>
              </a:lnSpc>
            </a:pPr>
            <a:r>
              <a:rPr sz="12000" b="0" i="0">
                <a:solidFill>
                  <a:srgbClr val="2F6F5E"/>
                </a:solidFill>
                <a:latin typeface="Georgia"/>
              </a:rPr>
              <a:t>“</a:t>
            </a:r>
          </a:p>
        </p:txBody>
      </p:sp>
      <p:sp>
        <p:nvSpPr>
          <p:cNvPr id="3" name="TextBox 2"/>
          <p:cNvSpPr txBox="1"/>
          <p:nvPr/>
        </p:nvSpPr>
        <p:spPr>
          <a:xfrm>
            <a:off x="1463040" y="1965960"/>
            <a:ext cx="9326880" cy="2377440"/>
          </a:xfrm>
          <a:prstGeom prst="rect">
            <a:avLst/>
          </a:prstGeom>
          <a:noFill/>
        </p:spPr>
        <p:txBody>
          <a:bodyPr wrap="square" anchor="ctr" lIns="0" rIns="0" tIns="0" bIns="0">
            <a:spAutoFit/>
          </a:bodyPr>
          <a:lstStyle/>
          <a:p>
            <a:pPr algn="l">
              <a:lnSpc>
                <a:spcPct val="112000"/>
              </a:lnSpc>
            </a:pPr>
            <a:r>
              <a:rPr sz="4200" b="0" i="0">
                <a:solidFill>
                  <a:srgbClr val="1C2620"/>
                </a:solidFill>
                <a:latin typeface="Georgia"/>
              </a:rPr>
              <a:t>Not a counselor. A support tool that knows when to step back.</a:t>
            </a:r>
          </a:p>
        </p:txBody>
      </p:sp>
      <p:sp>
        <p:nvSpPr>
          <p:cNvPr id="4" name="Rectangle 3"/>
          <p:cNvSpPr/>
          <p:nvPr/>
        </p:nvSpPr>
        <p:spPr>
          <a:xfrm>
            <a:off x="1463040" y="4572000"/>
            <a:ext cx="82296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4800600"/>
            <a:ext cx="9326880" cy="1097280"/>
          </a:xfrm>
          <a:prstGeom prst="rect">
            <a:avLst/>
          </a:prstGeom>
          <a:noFill/>
        </p:spPr>
        <p:txBody>
          <a:bodyPr wrap="square" anchor="t" lIns="0" rIns="0" tIns="0" bIns="0">
            <a:spAutoFit/>
          </a:bodyPr>
          <a:lstStyle/>
          <a:p>
            <a:pPr algn="l">
              <a:lnSpc>
                <a:spcPct val="108000"/>
              </a:lnSpc>
            </a:pPr>
            <a:r>
              <a:rPr sz="1500" b="0" i="0">
                <a:solidFill>
                  <a:srgbClr val="6B7A72"/>
                </a:solidFill>
                <a:latin typeface="Helvetica Neue"/>
              </a:rPr>
              <a:t>ZenAI · Abraham Irabor · Fnu Soh Tah Fon · Chinonso Egeolu</a:t>
            </a:r>
          </a:p>
        </p:txBody>
      </p:sp>
      <p:sp>
        <p:nvSpPr>
          <p:cNvPr id="6" name="TextBox 5"/>
          <p:cNvSpPr txBox="1"/>
          <p:nvPr/>
        </p:nvSpPr>
        <p:spPr>
          <a:xfrm>
            <a:off x="685800" y="6419088"/>
            <a:ext cx="5486400" cy="274320"/>
          </a:xfrm>
          <a:prstGeom prst="rect">
            <a:avLst/>
          </a:prstGeom>
          <a:noFill/>
        </p:spPr>
        <p:txBody>
          <a:bodyPr wrap="square" anchor="t" lIns="0" rIns="0" tIns="0" bIns="0">
            <a:spAutoFit/>
          </a:bodyPr>
          <a:lstStyle/>
          <a:p>
            <a:pPr algn="l">
              <a:lnSpc>
                <a:spcPct val="108000"/>
              </a:lnSpc>
            </a:pPr>
            <a:r>
              <a:rPr sz="950" b="0" i="0">
                <a:solidFill>
                  <a:srgbClr val="6B7A72"/>
                </a:solidFill>
                <a:latin typeface="Helvetica Neue"/>
              </a:rPr>
              <a:t>ZenAI  ·  COSC 490  ·  Group 3</a:t>
            </a:r>
          </a:p>
        </p:txBody>
      </p:sp>
      <p:sp>
        <p:nvSpPr>
          <p:cNvPr id="7" name="TextBox 6"/>
          <p:cNvSpPr txBox="1"/>
          <p:nvPr/>
        </p:nvSpPr>
        <p:spPr>
          <a:xfrm>
            <a:off x="9677095" y="6419088"/>
            <a:ext cx="1828800" cy="274320"/>
          </a:xfrm>
          <a:prstGeom prst="rect">
            <a:avLst/>
          </a:prstGeom>
          <a:noFill/>
        </p:spPr>
        <p:txBody>
          <a:bodyPr wrap="square" anchor="t" lIns="0" rIns="0" tIns="0" bIns="0">
            <a:spAutoFit/>
          </a:bodyPr>
          <a:lstStyle/>
          <a:p>
            <a:pPr algn="r">
              <a:lnSpc>
                <a:spcPct val="108000"/>
              </a:lnSpc>
            </a:pPr>
            <a:r>
              <a:rPr sz="950" b="0" i="0">
                <a:solidFill>
                  <a:srgbClr val="6B7A72"/>
                </a:solidFill>
                <a:latin typeface="Helvetica Neue"/>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